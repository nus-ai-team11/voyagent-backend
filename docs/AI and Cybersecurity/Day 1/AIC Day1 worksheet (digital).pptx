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12"/>
  </p:handoutMasterIdLst>
  <p:sldIdLst>
    <p:sldId id="325" r:id="rId3"/>
    <p:sldId id="566" r:id="rId5"/>
    <p:sldId id="16773895" r:id="rId6"/>
    <p:sldId id="16773754" r:id="rId7"/>
    <p:sldId id="16773755" r:id="rId8"/>
    <p:sldId id="16773756" r:id="rId9"/>
    <p:sldId id="16773896" r:id="rId10"/>
    <p:sldId id="354" r:id="rId11"/>
  </p:sldIdLst>
  <p:sldSz cx="9144000" cy="6858000" type="screen4x3"/>
  <p:notesSz cx="7099300" cy="10234295"/>
  <p:custDataLst>
    <p:tags r:id="rId1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73F7E"/>
    <a:srgbClr val="F58220"/>
    <a:srgbClr val="339933"/>
    <a:srgbClr val="006600"/>
    <a:srgbClr val="C00085"/>
    <a:srgbClr val="898989"/>
    <a:srgbClr val="33BBB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831" autoAdjust="0"/>
    <p:restoredTop sz="93979" autoAdjust="0"/>
  </p:normalViewPr>
  <p:slideViewPr>
    <p:cSldViewPr snapToGrid="0" showGuides="1">
      <p:cViewPr varScale="1">
        <p:scale>
          <a:sx n="74" d="100"/>
          <a:sy n="74" d="100"/>
        </p:scale>
        <p:origin x="1052" y="56"/>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110" d="100"/>
        <a:sy n="110" d="100"/>
      </p:scale>
      <p:origin x="0" y="0"/>
    </p:cViewPr>
  </p:sorterViewPr>
  <p:notesViewPr>
    <p:cSldViewPr snapToGrid="0">
      <p:cViewPr varScale="1">
        <p:scale>
          <a:sx n="48" d="100"/>
          <a:sy n="48" d="100"/>
        </p:scale>
        <p:origin x="2764" y="44"/>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6" Type="http://schemas.openxmlformats.org/officeDocument/2006/relationships/tags" Target="tags/tag1.xml"/><Relationship Id="rId15" Type="http://schemas.openxmlformats.org/officeDocument/2006/relationships/tableStyles" Target="tableStyles.xml"/><Relationship Id="rId14" Type="http://schemas.openxmlformats.org/officeDocument/2006/relationships/viewProps" Target="viewProps.xml"/><Relationship Id="rId13" Type="http://schemas.openxmlformats.org/officeDocument/2006/relationships/presProps" Target="presProps.xml"/><Relationship Id="rId12" Type="http://schemas.openxmlformats.org/officeDocument/2006/relationships/handoutMaster" Target="handoutMasters/handoutMaster1.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2"/>
            <a:ext cx="3076363" cy="511731"/>
          </a:xfrm>
          <a:prstGeom prst="rect">
            <a:avLst/>
          </a:prstGeom>
        </p:spPr>
        <p:txBody>
          <a:bodyPr vert="horz" lIns="99024" tIns="49512" rIns="99024" bIns="49512" rtlCol="0"/>
          <a:lstStyle>
            <a:lvl1pPr algn="l">
              <a:defRPr sz="1200"/>
            </a:lvl1pPr>
          </a:lstStyle>
          <a:p>
            <a:endParaRPr lang="en-US"/>
          </a:p>
        </p:txBody>
      </p:sp>
      <p:sp>
        <p:nvSpPr>
          <p:cNvPr id="3" name="Date Placeholder 2"/>
          <p:cNvSpPr>
            <a:spLocks noGrp="1"/>
          </p:cNvSpPr>
          <p:nvPr>
            <p:ph type="dt" sz="quarter" idx="1"/>
          </p:nvPr>
        </p:nvSpPr>
        <p:spPr>
          <a:xfrm>
            <a:off x="4021297" y="2"/>
            <a:ext cx="3076363" cy="511731"/>
          </a:xfrm>
          <a:prstGeom prst="rect">
            <a:avLst/>
          </a:prstGeom>
        </p:spPr>
        <p:txBody>
          <a:bodyPr vert="horz" lIns="99024" tIns="49512" rIns="99024" bIns="49512" rtlCol="0"/>
          <a:lstStyle>
            <a:lvl1pPr algn="r">
              <a:defRPr sz="1200"/>
            </a:lvl1pPr>
          </a:lstStyle>
          <a:p>
            <a:fld id="{43F1A4C9-FB5C-B247-A357-650712A3F0A8}" type="datetimeFigureOut">
              <a:rPr lang="en-US" smtClean="0"/>
            </a:fld>
            <a:endParaRPr lang="en-US"/>
          </a:p>
        </p:txBody>
      </p:sp>
      <p:sp>
        <p:nvSpPr>
          <p:cNvPr id="4" name="Footer Placeholder 3"/>
          <p:cNvSpPr>
            <a:spLocks noGrp="1"/>
          </p:cNvSpPr>
          <p:nvPr>
            <p:ph type="ftr" sz="quarter" idx="2"/>
          </p:nvPr>
        </p:nvSpPr>
        <p:spPr>
          <a:xfrm>
            <a:off x="2" y="9721108"/>
            <a:ext cx="3076363" cy="511731"/>
          </a:xfrm>
          <a:prstGeom prst="rect">
            <a:avLst/>
          </a:prstGeom>
        </p:spPr>
        <p:txBody>
          <a:bodyPr vert="horz" lIns="99024" tIns="49512" rIns="99024" bIns="49512" rtlCol="0" anchor="b"/>
          <a:lstStyle>
            <a:lvl1pPr algn="l">
              <a:defRPr sz="1200"/>
            </a:lvl1pPr>
          </a:lstStyle>
          <a:p>
            <a:endParaRPr lang="en-US"/>
          </a:p>
        </p:txBody>
      </p:sp>
      <p:sp>
        <p:nvSpPr>
          <p:cNvPr id="5" name="Slide Number Placeholder 4"/>
          <p:cNvSpPr>
            <a:spLocks noGrp="1"/>
          </p:cNvSpPr>
          <p:nvPr>
            <p:ph type="sldNum" sz="quarter" idx="3"/>
          </p:nvPr>
        </p:nvSpPr>
        <p:spPr>
          <a:xfrm>
            <a:off x="4021297" y="9721108"/>
            <a:ext cx="3076363" cy="511731"/>
          </a:xfrm>
          <a:prstGeom prst="rect">
            <a:avLst/>
          </a:prstGeom>
        </p:spPr>
        <p:txBody>
          <a:bodyPr vert="horz" lIns="99024" tIns="49512" rIns="99024" bIns="49512" rtlCol="0" anchor="b"/>
          <a:lstStyle>
            <a:lvl1pPr algn="r">
              <a:defRPr sz="1200"/>
            </a:lvl1pPr>
          </a:lstStyle>
          <a:p>
            <a:fld id="{C9D91F05-50D7-A946-8902-88FA310261AF}"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4"/>
            <a:ext cx="3076363" cy="513507"/>
          </a:xfrm>
          <a:prstGeom prst="rect">
            <a:avLst/>
          </a:prstGeom>
        </p:spPr>
        <p:txBody>
          <a:bodyPr vert="horz" lIns="99024" tIns="49512" rIns="99024" bIns="49512" rtlCol="0"/>
          <a:lstStyle>
            <a:lvl1pPr algn="l">
              <a:defRPr sz="1200"/>
            </a:lvl1pPr>
          </a:lstStyle>
          <a:p>
            <a:endParaRPr lang="en-SG"/>
          </a:p>
        </p:txBody>
      </p:sp>
      <p:sp>
        <p:nvSpPr>
          <p:cNvPr id="3" name="Date Placeholder 2"/>
          <p:cNvSpPr>
            <a:spLocks noGrp="1"/>
          </p:cNvSpPr>
          <p:nvPr>
            <p:ph type="dt" idx="1"/>
          </p:nvPr>
        </p:nvSpPr>
        <p:spPr>
          <a:xfrm>
            <a:off x="4021297" y="4"/>
            <a:ext cx="3076363" cy="513507"/>
          </a:xfrm>
          <a:prstGeom prst="rect">
            <a:avLst/>
          </a:prstGeom>
        </p:spPr>
        <p:txBody>
          <a:bodyPr vert="horz" lIns="99024" tIns="49512" rIns="99024" bIns="49512" rtlCol="0"/>
          <a:lstStyle>
            <a:lvl1pPr algn="r">
              <a:defRPr sz="1200"/>
            </a:lvl1pPr>
          </a:lstStyle>
          <a:p>
            <a:fld id="{EA4960E5-F060-4C88-B1C5-5A6F5890BEF6}" type="datetimeFigureOut">
              <a:rPr lang="en-SG" smtClean="0"/>
            </a:fld>
            <a:endParaRPr lang="en-SG"/>
          </a:p>
        </p:txBody>
      </p:sp>
      <p:sp>
        <p:nvSpPr>
          <p:cNvPr id="4" name="Slide Image Placeholder 3"/>
          <p:cNvSpPr>
            <a:spLocks noGrp="1" noRot="1" noChangeAspect="1"/>
          </p:cNvSpPr>
          <p:nvPr>
            <p:ph type="sldImg" idx="2"/>
          </p:nvPr>
        </p:nvSpPr>
        <p:spPr>
          <a:xfrm>
            <a:off x="1246188" y="1277938"/>
            <a:ext cx="4606925" cy="3455987"/>
          </a:xfrm>
          <a:prstGeom prst="rect">
            <a:avLst/>
          </a:prstGeom>
          <a:noFill/>
          <a:ln w="12700">
            <a:solidFill>
              <a:prstClr val="black"/>
            </a:solidFill>
          </a:ln>
        </p:spPr>
        <p:txBody>
          <a:bodyPr vert="horz" lIns="99024" tIns="49512" rIns="99024" bIns="49512" rtlCol="0" anchor="ctr"/>
          <a:lstStyle/>
          <a:p>
            <a:endParaRPr lang="en-SG"/>
          </a:p>
        </p:txBody>
      </p:sp>
      <p:sp>
        <p:nvSpPr>
          <p:cNvPr id="5" name="Notes Placeholder 4"/>
          <p:cNvSpPr>
            <a:spLocks noGrp="1"/>
          </p:cNvSpPr>
          <p:nvPr>
            <p:ph type="body" sz="quarter" idx="3"/>
          </p:nvPr>
        </p:nvSpPr>
        <p:spPr>
          <a:xfrm>
            <a:off x="709931" y="4925407"/>
            <a:ext cx="5679440" cy="4029879"/>
          </a:xfrm>
          <a:prstGeom prst="rect">
            <a:avLst/>
          </a:prstGeom>
        </p:spPr>
        <p:txBody>
          <a:bodyPr vert="horz" lIns="99024" tIns="49512" rIns="99024" bIns="49512"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SG"/>
          </a:p>
        </p:txBody>
      </p:sp>
      <p:sp>
        <p:nvSpPr>
          <p:cNvPr id="6" name="Footer Placeholder 5"/>
          <p:cNvSpPr>
            <a:spLocks noGrp="1"/>
          </p:cNvSpPr>
          <p:nvPr>
            <p:ph type="ftr" sz="quarter" idx="4"/>
          </p:nvPr>
        </p:nvSpPr>
        <p:spPr>
          <a:xfrm>
            <a:off x="2" y="9721110"/>
            <a:ext cx="3076363" cy="513507"/>
          </a:xfrm>
          <a:prstGeom prst="rect">
            <a:avLst/>
          </a:prstGeom>
        </p:spPr>
        <p:txBody>
          <a:bodyPr vert="horz" lIns="99024" tIns="49512" rIns="99024" bIns="49512" rtlCol="0" anchor="b"/>
          <a:lstStyle>
            <a:lvl1pPr algn="l">
              <a:defRPr sz="1200"/>
            </a:lvl1pPr>
          </a:lstStyle>
          <a:p>
            <a:endParaRPr lang="en-SG"/>
          </a:p>
        </p:txBody>
      </p:sp>
      <p:sp>
        <p:nvSpPr>
          <p:cNvPr id="7" name="Slide Number Placeholder 6"/>
          <p:cNvSpPr>
            <a:spLocks noGrp="1"/>
          </p:cNvSpPr>
          <p:nvPr>
            <p:ph type="sldNum" sz="quarter" idx="5"/>
          </p:nvPr>
        </p:nvSpPr>
        <p:spPr>
          <a:xfrm>
            <a:off x="4021297" y="9721110"/>
            <a:ext cx="3076363" cy="513507"/>
          </a:xfrm>
          <a:prstGeom prst="rect">
            <a:avLst/>
          </a:prstGeom>
        </p:spPr>
        <p:txBody>
          <a:bodyPr vert="horz" lIns="99024" tIns="49512" rIns="99024" bIns="49512" rtlCol="0" anchor="b"/>
          <a:lstStyle>
            <a:lvl1pPr algn="r">
              <a:defRPr sz="1200"/>
            </a:lvl1pPr>
          </a:lstStyle>
          <a:p>
            <a:fld id="{5E13ECD2-14D7-4265-AF23-95505127F74C}" type="slidenum">
              <a:rPr lang="en-SG" smtClean="0"/>
            </a:fld>
            <a:endParaRPr lang="en-SG"/>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a:p>
        </p:txBody>
      </p:sp>
      <p:sp>
        <p:nvSpPr>
          <p:cNvPr id="4" name="Slide Number Placeholder 3"/>
          <p:cNvSpPr>
            <a:spLocks noGrp="1"/>
          </p:cNvSpPr>
          <p:nvPr>
            <p:ph type="sldNum" sz="quarter" idx="10"/>
          </p:nvPr>
        </p:nvSpPr>
        <p:spPr/>
        <p:txBody>
          <a:bodyPr/>
          <a:lstStyle/>
          <a:p>
            <a:pPr defTabSz="914400">
              <a:defRPr/>
            </a:pPr>
            <a:fld id="{5E13ECD2-14D7-4265-AF23-95505127F74C}" type="slidenum">
              <a:rPr lang="en-SG">
                <a:solidFill>
                  <a:prstClr val="black"/>
                </a:solidFill>
                <a:latin typeface="Calibri" panose="020F0502020204030204"/>
              </a:rPr>
            </a:fld>
            <a:endParaRPr lang="en-SG">
              <a:solidFill>
                <a:prstClr val="black"/>
              </a:solidFill>
              <a:latin typeface="Calibri" panose="020F0502020204030204"/>
            </a:endParaRPr>
          </a:p>
        </p:txBody>
      </p:sp>
    </p:spTree>
  </p:cSld>
  <p:clrMapOvr>
    <a:masterClrMapping/>
  </p:clrMapOvr>
</p:notes>
</file>

<file path=ppt/slideLayouts/_rels/slideLayout1.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6" name="Title 1"/>
          <p:cNvSpPr>
            <a:spLocks noGrp="1"/>
          </p:cNvSpPr>
          <p:nvPr>
            <p:ph type="ctrTitle"/>
          </p:nvPr>
        </p:nvSpPr>
        <p:spPr>
          <a:xfrm>
            <a:off x="1388466" y="2121318"/>
            <a:ext cx="7411601" cy="1280230"/>
          </a:xfrm>
        </p:spPr>
        <p:txBody>
          <a:bodyPr anchor="t">
            <a:normAutofit/>
          </a:bodyPr>
          <a:lstStyle>
            <a:lvl1pPr algn="l">
              <a:defRPr sz="4400" b="1" cap="all" baseline="0">
                <a:solidFill>
                  <a:srgbClr val="173F7E"/>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10" name="Text Placeholder 10"/>
          <p:cNvSpPr>
            <a:spLocks noGrp="1"/>
          </p:cNvSpPr>
          <p:nvPr>
            <p:ph type="body" sz="quarter" idx="13"/>
          </p:nvPr>
        </p:nvSpPr>
        <p:spPr>
          <a:xfrm>
            <a:off x="1388466" y="4127588"/>
            <a:ext cx="6846887" cy="1441107"/>
          </a:xfrm>
        </p:spPr>
        <p:txBody>
          <a:bodyPr>
            <a:normAutofit/>
          </a:bodyPr>
          <a:lstStyle>
            <a:lvl1pPr marL="0" indent="0">
              <a:buNone/>
              <a:defRPr sz="2000" b="1">
                <a:solidFill>
                  <a:schemeClr val="tx1"/>
                </a:solidFill>
                <a:latin typeface="Arial" panose="020B0604020202020204" pitchFamily="34" charset="0"/>
                <a:cs typeface="Arial" panose="020B0604020202020204" pitchFamily="34" charset="0"/>
              </a:defRPr>
            </a:lvl1pPr>
          </a:lstStyle>
          <a:p>
            <a:pPr lvl="0"/>
            <a:r>
              <a:rPr lang="en-US" dirty="0"/>
              <a:t>Click to edit Master text styles</a:t>
            </a:r>
            <a:endParaRPr lang="en-US" dirty="0"/>
          </a:p>
        </p:txBody>
      </p:sp>
      <p:pic>
        <p:nvPicPr>
          <p:cNvPr id="2" name="Picture 1"/>
          <p:cNvPicPr>
            <a:picLocks noChangeAspect="1"/>
          </p:cNvPicPr>
          <p:nvPr/>
        </p:nvPicPr>
        <p:blipFill>
          <a:blip r:embed="rId2" cstate="email"/>
          <a:stretch>
            <a:fillRect/>
          </a:stretch>
        </p:blipFill>
        <p:spPr>
          <a:xfrm>
            <a:off x="0" y="1892325"/>
            <a:ext cx="1177848" cy="1093166"/>
          </a:xfrm>
          <a:prstGeom prst="rect">
            <a:avLst/>
          </a:prstGeom>
        </p:spPr>
      </p:pic>
      <p:pic>
        <p:nvPicPr>
          <p:cNvPr id="11" name="Picture 10"/>
          <p:cNvPicPr>
            <a:picLocks noChangeAspect="1"/>
          </p:cNvPicPr>
          <p:nvPr/>
        </p:nvPicPr>
        <p:blipFill>
          <a:blip r:embed="rId3" cstate="email"/>
          <a:stretch>
            <a:fillRect/>
          </a:stretch>
        </p:blipFill>
        <p:spPr>
          <a:xfrm>
            <a:off x="8884725" y="-22280"/>
            <a:ext cx="284673" cy="5373216"/>
          </a:xfrm>
          <a:prstGeom prst="rect">
            <a:avLst/>
          </a:prstGeom>
        </p:spPr>
      </p:pic>
      <p:pic>
        <p:nvPicPr>
          <p:cNvPr id="13" name="Picture 12"/>
          <p:cNvPicPr>
            <a:picLocks noChangeAspect="1"/>
          </p:cNvPicPr>
          <p:nvPr userDrawn="1"/>
        </p:nvPicPr>
        <p:blipFill>
          <a:blip r:embed="rId2" cstate="email"/>
          <a:stretch>
            <a:fillRect/>
          </a:stretch>
        </p:blipFill>
        <p:spPr>
          <a:xfrm>
            <a:off x="0" y="1892325"/>
            <a:ext cx="1177848" cy="1093166"/>
          </a:xfrm>
          <a:prstGeom prst="rect">
            <a:avLst/>
          </a:prstGeom>
        </p:spPr>
      </p:pic>
      <p:pic>
        <p:nvPicPr>
          <p:cNvPr id="14" name="Picture 13"/>
          <p:cNvPicPr>
            <a:picLocks noChangeAspect="1"/>
          </p:cNvPicPr>
          <p:nvPr userDrawn="1"/>
        </p:nvPicPr>
        <p:blipFill>
          <a:blip r:embed="rId3" cstate="email"/>
          <a:stretch>
            <a:fillRect/>
          </a:stretch>
        </p:blipFill>
        <p:spPr>
          <a:xfrm>
            <a:off x="8884725" y="-22280"/>
            <a:ext cx="284673" cy="5373216"/>
          </a:xfrm>
          <a:prstGeom prst="rect">
            <a:avLst/>
          </a:prstGeom>
        </p:spPr>
      </p:pic>
      <p:sp>
        <p:nvSpPr>
          <p:cNvPr id="15" name="Slide Number Placeholder 5"/>
          <p:cNvSpPr>
            <a:spLocks noGrp="1"/>
          </p:cNvSpPr>
          <p:nvPr>
            <p:ph type="sldNum" sz="quarter" idx="4"/>
          </p:nvPr>
        </p:nvSpPr>
        <p:spPr>
          <a:xfrm>
            <a:off x="8048325" y="6492872"/>
            <a:ext cx="1052945" cy="266851"/>
          </a:xfrm>
          <a:prstGeom prst="rect">
            <a:avLst/>
          </a:prstGeom>
        </p:spPr>
        <p:txBody>
          <a:bodyPr vert="horz" lIns="91440" tIns="45720" rIns="91440" bIns="45720" rtlCol="0" anchor="ctr"/>
          <a:lstStyle>
            <a:lvl1pPr algn="r">
              <a:defRPr sz="1000">
                <a:solidFill>
                  <a:schemeClr val="tx1">
                    <a:tint val="75000"/>
                  </a:schemeClr>
                </a:solidFill>
                <a:latin typeface="Arial" panose="020B0604020202020204" pitchFamily="34" charset="0"/>
                <a:cs typeface="Arial" panose="020B0604020202020204" pitchFamily="34" charset="0"/>
              </a:defRPr>
            </a:lvl1pPr>
          </a:lstStyle>
          <a:p>
            <a:pPr algn="ctr"/>
            <a:r>
              <a:rPr lang="en-SG" dirty="0"/>
              <a:t>Page </a:t>
            </a:r>
            <a:fld id="{2F63C605-4FC6-46DE-BC90-871762EA3F52}" type="slidenum">
              <a:rPr lang="en-SG" smtClean="0"/>
            </a:fld>
            <a:endParaRPr lang="en-SG" dirty="0"/>
          </a:p>
        </p:txBody>
      </p:sp>
      <p:pic>
        <p:nvPicPr>
          <p:cNvPr id="16" name="Picture 15" descr="Text, logo&#10;&#10;Description automatically generated"/>
          <p:cNvPicPr>
            <a:picLocks noChangeAspect="1"/>
          </p:cNvPicPr>
          <p:nvPr userDrawn="1"/>
        </p:nvPicPr>
        <p:blipFill>
          <a:blip r:embed="rId4"/>
          <a:stretch>
            <a:fillRect/>
          </a:stretch>
        </p:blipFill>
        <p:spPr>
          <a:xfrm>
            <a:off x="7271881" y="186812"/>
            <a:ext cx="1828800" cy="673597"/>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28650" y="250831"/>
            <a:ext cx="6600413" cy="545561"/>
          </a:xfrm>
        </p:spPr>
        <p:txBody>
          <a:bodyPr>
            <a:normAutofit/>
          </a:bodyPr>
          <a:lstStyle>
            <a:lvl1pPr>
              <a:defRPr sz="3200" b="1" cap="none" baseline="0">
                <a:solidFill>
                  <a:srgbClr val="173F7E"/>
                </a:solidFill>
                <a:latin typeface="Arial" panose="020B0604020202020204" pitchFamily="34" charset="0"/>
                <a:cs typeface="Arial" panose="020B0604020202020204" pitchFamily="34" charset="0"/>
              </a:defRPr>
            </a:lvl1pPr>
          </a:lstStyle>
          <a:p>
            <a:r>
              <a:rPr lang="en-US" dirty="0"/>
              <a:t>Agenda</a:t>
            </a:r>
            <a:endParaRPr lang="en-US" dirty="0"/>
          </a:p>
        </p:txBody>
      </p:sp>
      <p:pic>
        <p:nvPicPr>
          <p:cNvPr id="7" name="Picture 6"/>
          <p:cNvPicPr>
            <a:picLocks noChangeAspect="1"/>
          </p:cNvPicPr>
          <p:nvPr/>
        </p:nvPicPr>
        <p:blipFill>
          <a:blip r:embed="rId2" cstate="print"/>
          <a:stretch>
            <a:fillRect/>
          </a:stretch>
        </p:blipFill>
        <p:spPr>
          <a:xfrm>
            <a:off x="1988" y="250831"/>
            <a:ext cx="583844" cy="545560"/>
          </a:xfrm>
          <a:prstGeom prst="rect">
            <a:avLst/>
          </a:prstGeom>
        </p:spPr>
      </p:pic>
      <p:sp>
        <p:nvSpPr>
          <p:cNvPr id="12" name="Text Placeholder 11"/>
          <p:cNvSpPr>
            <a:spLocks noGrp="1"/>
          </p:cNvSpPr>
          <p:nvPr>
            <p:ph type="body" sz="quarter" idx="13" hasCustomPrompt="1"/>
          </p:nvPr>
        </p:nvSpPr>
        <p:spPr>
          <a:xfrm>
            <a:off x="628650" y="1167027"/>
            <a:ext cx="7886700" cy="4143375"/>
          </a:xfrm>
        </p:spPr>
        <p:txBody>
          <a:bodyPr/>
          <a:lstStyle>
            <a:lvl1pPr marL="514350" indent="-514350" algn="just">
              <a:buFont typeface="Arial" panose="020B0604020202020204" pitchFamily="34" charset="0"/>
              <a:buChar char="•"/>
              <a:defRPr b="0" cap="none" baseline="0">
                <a:solidFill>
                  <a:schemeClr val="tx1"/>
                </a:solidFill>
              </a:defRPr>
            </a:lvl1pPr>
            <a:lvl2pPr>
              <a:defRPr>
                <a:solidFill>
                  <a:schemeClr val="tx1">
                    <a:lumMod val="75000"/>
                    <a:lumOff val="25000"/>
                  </a:schemeClr>
                </a:solidFill>
              </a:defRPr>
            </a:lvl2pPr>
          </a:lstStyle>
          <a:p>
            <a:pPr lvl="0"/>
            <a:r>
              <a:rPr lang="en-US" dirty="0"/>
              <a:t>Agenda 1</a:t>
            </a:r>
            <a:endParaRPr lang="en-US" dirty="0"/>
          </a:p>
          <a:p>
            <a:pPr lvl="0"/>
            <a:r>
              <a:rPr lang="en-US" dirty="0"/>
              <a:t>Agenda 2</a:t>
            </a:r>
            <a:endParaRPr lang="en-US" dirty="0"/>
          </a:p>
          <a:p>
            <a:pPr lvl="0"/>
            <a:r>
              <a:rPr lang="en-US" dirty="0"/>
              <a:t>Agenda 3</a:t>
            </a:r>
            <a:endParaRPr lang="en-US" dirty="0"/>
          </a:p>
          <a:p>
            <a:pPr lvl="0"/>
            <a:r>
              <a:rPr lang="en-US" dirty="0"/>
              <a:t>Agenda 4</a:t>
            </a:r>
            <a:endParaRPr lang="en-US" dirty="0"/>
          </a:p>
          <a:p>
            <a:pPr lvl="0"/>
            <a:r>
              <a:rPr lang="en-US" dirty="0"/>
              <a:t>Agenda 5</a:t>
            </a:r>
            <a:endParaRPr lang="en-US" dirty="0"/>
          </a:p>
        </p:txBody>
      </p:sp>
      <p:pic>
        <p:nvPicPr>
          <p:cNvPr id="8" name="Picture 7"/>
          <p:cNvPicPr>
            <a:picLocks noChangeAspect="1"/>
          </p:cNvPicPr>
          <p:nvPr userDrawn="1"/>
        </p:nvPicPr>
        <p:blipFill>
          <a:blip r:embed="rId2" cstate="print"/>
          <a:stretch>
            <a:fillRect/>
          </a:stretch>
        </p:blipFill>
        <p:spPr>
          <a:xfrm>
            <a:off x="1988" y="250831"/>
            <a:ext cx="583844" cy="545560"/>
          </a:xfrm>
          <a:prstGeom prst="rect">
            <a:avLst/>
          </a:prstGeom>
        </p:spPr>
      </p:pic>
      <p:sp>
        <p:nvSpPr>
          <p:cNvPr id="9" name="Slide Number Placeholder 5"/>
          <p:cNvSpPr>
            <a:spLocks noGrp="1"/>
          </p:cNvSpPr>
          <p:nvPr>
            <p:ph type="sldNum" sz="quarter" idx="4"/>
          </p:nvPr>
        </p:nvSpPr>
        <p:spPr>
          <a:xfrm>
            <a:off x="8048325" y="6492872"/>
            <a:ext cx="1052945" cy="266851"/>
          </a:xfrm>
          <a:prstGeom prst="rect">
            <a:avLst/>
          </a:prstGeom>
        </p:spPr>
        <p:txBody>
          <a:bodyPr vert="horz" lIns="91440" tIns="45720" rIns="91440" bIns="45720" rtlCol="0" anchor="ctr"/>
          <a:lstStyle>
            <a:lvl1pPr algn="r">
              <a:defRPr sz="1000">
                <a:solidFill>
                  <a:schemeClr val="tx1">
                    <a:tint val="75000"/>
                  </a:schemeClr>
                </a:solidFill>
                <a:latin typeface="Arial" panose="020B0604020202020204" pitchFamily="34" charset="0"/>
                <a:cs typeface="Arial" panose="020B0604020202020204" pitchFamily="34" charset="0"/>
              </a:defRPr>
            </a:lvl1pPr>
          </a:lstStyle>
          <a:p>
            <a:pPr algn="ctr"/>
            <a:r>
              <a:rPr lang="en-SG" dirty="0"/>
              <a:t>Page </a:t>
            </a:r>
            <a:fld id="{2F63C605-4FC6-46DE-BC90-871762EA3F52}" type="slidenum">
              <a:rPr lang="en-SG" smtClean="0"/>
            </a:fld>
            <a:endParaRPr lang="en-SG" dirty="0"/>
          </a:p>
        </p:txBody>
      </p:sp>
      <p:pic>
        <p:nvPicPr>
          <p:cNvPr id="10" name="Picture 9" descr="Text, logo&#10;&#10;Description automatically generated"/>
          <p:cNvPicPr>
            <a:picLocks noChangeAspect="1"/>
          </p:cNvPicPr>
          <p:nvPr userDrawn="1"/>
        </p:nvPicPr>
        <p:blipFill>
          <a:blip r:embed="rId3"/>
          <a:stretch>
            <a:fillRect/>
          </a:stretch>
        </p:blipFill>
        <p:spPr>
          <a:xfrm>
            <a:off x="7271881" y="186812"/>
            <a:ext cx="1828800" cy="673597"/>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28650" y="250831"/>
            <a:ext cx="6600413" cy="545561"/>
          </a:xfrm>
        </p:spPr>
        <p:txBody>
          <a:bodyPr>
            <a:normAutofit/>
          </a:bodyPr>
          <a:lstStyle>
            <a:lvl1pPr>
              <a:defRPr sz="3200" b="1" cap="none" baseline="0">
                <a:solidFill>
                  <a:srgbClr val="173F7E"/>
                </a:solidFill>
                <a:latin typeface="Arial" panose="020B0604020202020204" pitchFamily="34" charset="0"/>
                <a:cs typeface="Arial" panose="020B0604020202020204" pitchFamily="34" charset="0"/>
              </a:defRPr>
            </a:lvl1pPr>
          </a:lstStyle>
          <a:p>
            <a:r>
              <a:rPr lang="en-US" dirty="0"/>
              <a:t>Title</a:t>
            </a:r>
            <a:endParaRPr lang="en-US" dirty="0"/>
          </a:p>
        </p:txBody>
      </p:sp>
      <p:pic>
        <p:nvPicPr>
          <p:cNvPr id="7" name="Picture 6"/>
          <p:cNvPicPr>
            <a:picLocks noChangeAspect="1"/>
          </p:cNvPicPr>
          <p:nvPr/>
        </p:nvPicPr>
        <p:blipFill>
          <a:blip r:embed="rId2" cstate="print"/>
          <a:stretch>
            <a:fillRect/>
          </a:stretch>
        </p:blipFill>
        <p:spPr>
          <a:xfrm>
            <a:off x="1988" y="250831"/>
            <a:ext cx="583844" cy="545560"/>
          </a:xfrm>
          <a:prstGeom prst="rect">
            <a:avLst/>
          </a:prstGeom>
        </p:spPr>
      </p:pic>
      <p:pic>
        <p:nvPicPr>
          <p:cNvPr id="8" name="Picture 7"/>
          <p:cNvPicPr>
            <a:picLocks noChangeAspect="1"/>
          </p:cNvPicPr>
          <p:nvPr userDrawn="1"/>
        </p:nvPicPr>
        <p:blipFill>
          <a:blip r:embed="rId2" cstate="print"/>
          <a:stretch>
            <a:fillRect/>
          </a:stretch>
        </p:blipFill>
        <p:spPr>
          <a:xfrm>
            <a:off x="1988" y="250831"/>
            <a:ext cx="583844" cy="545560"/>
          </a:xfrm>
          <a:prstGeom prst="rect">
            <a:avLst/>
          </a:prstGeom>
        </p:spPr>
      </p:pic>
      <p:sp>
        <p:nvSpPr>
          <p:cNvPr id="10" name="Slide Number Placeholder 5"/>
          <p:cNvSpPr>
            <a:spLocks noGrp="1"/>
          </p:cNvSpPr>
          <p:nvPr>
            <p:ph type="sldNum" sz="quarter" idx="4"/>
          </p:nvPr>
        </p:nvSpPr>
        <p:spPr>
          <a:xfrm>
            <a:off x="8048325" y="6492872"/>
            <a:ext cx="1052945" cy="266851"/>
          </a:xfrm>
          <a:prstGeom prst="rect">
            <a:avLst/>
          </a:prstGeom>
        </p:spPr>
        <p:txBody>
          <a:bodyPr vert="horz" lIns="91440" tIns="45720" rIns="91440" bIns="45720" rtlCol="0" anchor="ctr"/>
          <a:lstStyle>
            <a:lvl1pPr algn="r">
              <a:defRPr sz="1000">
                <a:solidFill>
                  <a:schemeClr val="tx1">
                    <a:tint val="75000"/>
                  </a:schemeClr>
                </a:solidFill>
                <a:latin typeface="Arial" panose="020B0604020202020204" pitchFamily="34" charset="0"/>
                <a:cs typeface="Arial" panose="020B0604020202020204" pitchFamily="34" charset="0"/>
              </a:defRPr>
            </a:lvl1pPr>
          </a:lstStyle>
          <a:p>
            <a:pPr algn="ctr"/>
            <a:r>
              <a:rPr lang="en-SG" dirty="0"/>
              <a:t>Page </a:t>
            </a:r>
            <a:fld id="{2F63C605-4FC6-46DE-BC90-871762EA3F52}" type="slidenum">
              <a:rPr lang="en-SG" smtClean="0"/>
            </a:fld>
            <a:endParaRPr lang="en-SG" dirty="0"/>
          </a:p>
        </p:txBody>
      </p:sp>
      <p:pic>
        <p:nvPicPr>
          <p:cNvPr id="11" name="Picture 10" descr="Text, logo&#10;&#10;Description automatically generated"/>
          <p:cNvPicPr>
            <a:picLocks noChangeAspect="1"/>
          </p:cNvPicPr>
          <p:nvPr userDrawn="1"/>
        </p:nvPicPr>
        <p:blipFill>
          <a:blip r:embed="rId3"/>
          <a:stretch>
            <a:fillRect/>
          </a:stretch>
        </p:blipFill>
        <p:spPr>
          <a:xfrm>
            <a:off x="7271881" y="186812"/>
            <a:ext cx="1828800" cy="673597"/>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4" Type="http://schemas.openxmlformats.org/officeDocument/2006/relationships/theme" Target="../theme/theme1.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6" name="Slide Number Placeholder 5"/>
          <p:cNvSpPr>
            <a:spLocks noGrp="1"/>
          </p:cNvSpPr>
          <p:nvPr>
            <p:ph type="sldNum" sz="quarter" idx="4"/>
          </p:nvPr>
        </p:nvSpPr>
        <p:spPr>
          <a:xfrm>
            <a:off x="8048325" y="6492872"/>
            <a:ext cx="1052945" cy="266851"/>
          </a:xfrm>
          <a:prstGeom prst="rect">
            <a:avLst/>
          </a:prstGeom>
        </p:spPr>
        <p:txBody>
          <a:bodyPr vert="horz" lIns="91440" tIns="45720" rIns="91440" bIns="45720" rtlCol="0" anchor="ctr"/>
          <a:lstStyle>
            <a:lvl1pPr algn="r">
              <a:defRPr sz="1000">
                <a:solidFill>
                  <a:schemeClr val="tx1">
                    <a:tint val="75000"/>
                  </a:schemeClr>
                </a:solidFill>
                <a:latin typeface="Arial" panose="020B0604020202020204" pitchFamily="34" charset="0"/>
                <a:cs typeface="Arial" panose="020B0604020202020204" pitchFamily="34" charset="0"/>
              </a:defRPr>
            </a:lvl1pPr>
          </a:lstStyle>
          <a:p>
            <a:pPr algn="ctr"/>
            <a:r>
              <a:rPr lang="en-SG" dirty="0"/>
              <a:t>Page </a:t>
            </a:r>
            <a:fld id="{2F63C605-4FC6-46DE-BC90-871762EA3F52}" type="slidenum">
              <a:rPr lang="en-SG" smtClean="0"/>
            </a:fld>
            <a:endParaRPr lang="en-SG" dirty="0"/>
          </a:p>
        </p:txBody>
      </p:sp>
      <p:sp>
        <p:nvSpPr>
          <p:cNvPr id="9" name="Date Placeholder 4"/>
          <p:cNvSpPr txBox="1"/>
          <p:nvPr userDrawn="1"/>
        </p:nvSpPr>
        <p:spPr>
          <a:xfrm>
            <a:off x="4375064" y="6492872"/>
            <a:ext cx="3715991" cy="266851"/>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SG" sz="1000" kern="1200" baseline="0" dirty="0">
                <a:solidFill>
                  <a:srgbClr val="898989"/>
                </a:solidFill>
                <a:latin typeface="Arial" panose="020B0604020202020204" pitchFamily="34" charset="0"/>
                <a:ea typeface="+mn-ea"/>
                <a:cs typeface="+mn-cs"/>
              </a:rPr>
              <a:t>© National University of Singapore. All Rights Reserved</a:t>
            </a:r>
            <a:endParaRPr lang="en-SG" sz="1000" kern="1200" baseline="0" dirty="0">
              <a:solidFill>
                <a:srgbClr val="898989"/>
              </a:solidFill>
              <a:latin typeface="Arial" panose="020B0604020202020204" pitchFamily="34" charset="0"/>
              <a:ea typeface="+mn-ea"/>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hdr="0" ftr="0" dt="0"/>
  <p:txStyles>
    <p:title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6.png"/><Relationship Id="rId1"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t>AIC Day1 worksheet</a:t>
            </a:r>
            <a:endParaRPr lang="en-US" dirty="0"/>
          </a:p>
        </p:txBody>
      </p:sp>
      <p:sp>
        <p:nvSpPr>
          <p:cNvPr id="3" name="Slide Number Placeholder 2"/>
          <p:cNvSpPr>
            <a:spLocks noGrp="1"/>
          </p:cNvSpPr>
          <p:nvPr>
            <p:ph type="sldNum" sz="quarter" idx="4"/>
          </p:nvPr>
        </p:nvSpPr>
        <p:spPr/>
        <p:txBody>
          <a:bodyPr/>
          <a:lstStyle/>
          <a:p>
            <a:pPr algn="ctr"/>
            <a:r>
              <a:rPr lang="en-SG"/>
              <a:t>Page </a:t>
            </a:r>
            <a:fld id="{2F63C605-4FC6-46DE-BC90-871762EA3F52}" type="slidenum">
              <a:rPr lang="en-SG" smtClean="0"/>
            </a:fld>
            <a:endParaRPr lang="en-SG"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Team members</a:t>
            </a:r>
            <a:endParaRPr lang="en-SG" dirty="0"/>
          </a:p>
        </p:txBody>
      </p:sp>
      <p:sp>
        <p:nvSpPr>
          <p:cNvPr id="3" name="Text Placeholder 2"/>
          <p:cNvSpPr>
            <a:spLocks noGrp="1"/>
          </p:cNvSpPr>
          <p:nvPr>
            <p:ph type="body" sz="quarter" idx="13"/>
          </p:nvPr>
        </p:nvSpPr>
        <p:spPr/>
        <p:txBody>
          <a:bodyPr/>
          <a:lstStyle/>
          <a:p>
            <a:r>
              <a:rPr lang="en-US" dirty="0"/>
              <a:t>List your team members’ </a:t>
            </a:r>
            <a:r>
              <a:rPr lang="en-US" dirty="0">
                <a:highlight>
                  <a:srgbClr val="FFFF00"/>
                </a:highlight>
              </a:rPr>
              <a:t>full names </a:t>
            </a:r>
            <a:r>
              <a:rPr lang="en-US" dirty="0"/>
              <a:t>(as in your course registration)</a:t>
            </a:r>
            <a:endParaRPr lang="en-SG" dirty="0"/>
          </a:p>
        </p:txBody>
      </p:sp>
      <p:sp>
        <p:nvSpPr>
          <p:cNvPr id="5" name="Slide Number Placeholder 4"/>
          <p:cNvSpPr>
            <a:spLocks noGrp="1"/>
          </p:cNvSpPr>
          <p:nvPr>
            <p:ph type="sldNum" sz="quarter" idx="4"/>
          </p:nvPr>
        </p:nvSpPr>
        <p:spPr/>
        <p:txBody>
          <a:bodyPr/>
          <a:lstStyle/>
          <a:p>
            <a:pPr algn="ctr"/>
            <a:r>
              <a:rPr lang="en-SG"/>
              <a:t>Page </a:t>
            </a:r>
            <a:fld id="{2F63C605-4FC6-46DE-BC90-871762EA3F52}" type="slidenum">
              <a:rPr lang="en-SG" smtClean="0"/>
            </a:fld>
            <a:endParaRPr lang="en-SG" dirty="0"/>
          </a:p>
        </p:txBody>
      </p:sp>
      <p:sp>
        <p:nvSpPr>
          <p:cNvPr id="6" name="文本框 5"/>
          <p:cNvSpPr txBox="1"/>
          <p:nvPr/>
        </p:nvSpPr>
        <p:spPr>
          <a:xfrm>
            <a:off x="1094105" y="2423795"/>
            <a:ext cx="3048000" cy="460375"/>
          </a:xfrm>
          <a:prstGeom prst="rect">
            <a:avLst/>
          </a:prstGeom>
          <a:noFill/>
        </p:spPr>
        <p:txBody>
          <a:bodyPr wrap="square" rtlCol="0">
            <a:spAutoFit/>
          </a:bodyPr>
          <a:p>
            <a:pPr indent="0" algn="l">
              <a:buFont typeface="Arial" panose="020B0604020202020204" pitchFamily="34" charset="0"/>
              <a:buNone/>
            </a:pPr>
            <a:r>
              <a:rPr lang="en-US" altLang="zh-CN" sz="2400" dirty="0" err="1" smtClean="0">
                <a:solidFill>
                  <a:schemeClr val="tx1"/>
                </a:solidFill>
              </a:rPr>
              <a:t>Sun Sihan</a:t>
            </a:r>
            <a:endParaRPr lang="en-US" altLang="zh-CN" sz="2400" dirty="0" err="1" smtClean="0">
              <a:solidFill>
                <a:schemeClr val="tx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SG" dirty="0"/>
              <a:t>Case study: Prompt classification</a:t>
            </a:r>
            <a:endParaRPr lang="en-SG" dirty="0"/>
          </a:p>
        </p:txBody>
      </p:sp>
      <p:pic>
        <p:nvPicPr>
          <p:cNvPr id="10" name="Picture 9"/>
          <p:cNvPicPr>
            <a:picLocks noChangeAspect="1"/>
          </p:cNvPicPr>
          <p:nvPr/>
        </p:nvPicPr>
        <p:blipFill>
          <a:blip r:embed="rId1"/>
          <a:stretch>
            <a:fillRect/>
          </a:stretch>
        </p:blipFill>
        <p:spPr>
          <a:xfrm>
            <a:off x="140380" y="922556"/>
            <a:ext cx="5715798" cy="905001"/>
          </a:xfrm>
          <a:prstGeom prst="rect">
            <a:avLst/>
          </a:prstGeom>
        </p:spPr>
      </p:pic>
      <p:sp>
        <p:nvSpPr>
          <p:cNvPr id="13" name="TextBox 12"/>
          <p:cNvSpPr txBox="1"/>
          <p:nvPr/>
        </p:nvSpPr>
        <p:spPr>
          <a:xfrm>
            <a:off x="121472" y="1953721"/>
            <a:ext cx="7614767" cy="369332"/>
          </a:xfrm>
          <a:prstGeom prst="rect">
            <a:avLst/>
          </a:prstGeom>
          <a:noFill/>
        </p:spPr>
        <p:txBody>
          <a:bodyPr wrap="square">
            <a:spAutoFit/>
          </a:bodyPr>
          <a:lstStyle/>
          <a:p>
            <a:r>
              <a:rPr lang="en-SG" dirty="0"/>
              <a:t>Website: https://aiguardian-sentinel-playground.app.tc1.airbase.sg/</a:t>
            </a:r>
            <a:endParaRPr lang="en-SG" dirty="0"/>
          </a:p>
        </p:txBody>
      </p:sp>
      <p:pic>
        <p:nvPicPr>
          <p:cNvPr id="15" name="Picture 14"/>
          <p:cNvPicPr>
            <a:picLocks noChangeAspect="1"/>
          </p:cNvPicPr>
          <p:nvPr/>
        </p:nvPicPr>
        <p:blipFill>
          <a:blip r:embed="rId2"/>
          <a:stretch>
            <a:fillRect/>
          </a:stretch>
        </p:blipFill>
        <p:spPr>
          <a:xfrm>
            <a:off x="121472" y="2449217"/>
            <a:ext cx="6582579" cy="3657600"/>
          </a:xfrm>
          <a:prstGeom prst="rect">
            <a:avLst/>
          </a:prstGeom>
        </p:spPr>
      </p:pic>
      <p:sp>
        <p:nvSpPr>
          <p:cNvPr id="4" name="Slide Number Placeholder 3"/>
          <p:cNvSpPr>
            <a:spLocks noGrp="1"/>
          </p:cNvSpPr>
          <p:nvPr>
            <p:ph type="sldNum" sz="quarter" idx="4"/>
          </p:nvPr>
        </p:nvSpPr>
        <p:spPr/>
        <p:txBody>
          <a:bodyPr/>
          <a:lstStyle/>
          <a:p>
            <a:pPr algn="ctr"/>
            <a:r>
              <a:rPr lang="en-SG"/>
              <a:t>Page </a:t>
            </a:r>
            <a:fld id="{2F63C605-4FC6-46DE-BC90-871762EA3F52}" type="slidenum">
              <a:rPr lang="en-SG" smtClean="0"/>
            </a:fld>
            <a:endParaRPr lang="en-SG"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SG" sz="2400" dirty="0"/>
              <a:t>Q1: </a:t>
            </a:r>
            <a:r>
              <a:rPr lang="en-US" sz="2400" dirty="0"/>
              <a:t>Analyze one traditional AI system in your case study</a:t>
            </a:r>
            <a:endParaRPr lang="en-SG" sz="2400" dirty="0"/>
          </a:p>
        </p:txBody>
      </p:sp>
      <p:sp>
        <p:nvSpPr>
          <p:cNvPr id="3" name="Text Placeholder 2"/>
          <p:cNvSpPr>
            <a:spLocks noGrp="1"/>
          </p:cNvSpPr>
          <p:nvPr>
            <p:ph type="body" sz="quarter" idx="13"/>
          </p:nvPr>
        </p:nvSpPr>
        <p:spPr>
          <a:xfrm>
            <a:off x="628650" y="1167130"/>
            <a:ext cx="7886700" cy="2978785"/>
          </a:xfrm>
        </p:spPr>
        <p:txBody>
          <a:bodyPr/>
          <a:lstStyle/>
          <a:p>
            <a:pPr marL="0" indent="0">
              <a:buNone/>
            </a:pPr>
            <a:r>
              <a:rPr lang="en-US" sz="1800" dirty="0">
                <a:solidFill>
                  <a:srgbClr val="000000"/>
                </a:solidFill>
              </a:rPr>
              <a:t>Consider the following questions:</a:t>
            </a:r>
            <a:endParaRPr lang="en-US" sz="1800" dirty="0">
              <a:solidFill>
                <a:srgbClr val="000000"/>
              </a:solidFill>
            </a:endParaRPr>
          </a:p>
          <a:p>
            <a:r>
              <a:rPr lang="en-US" sz="1800" dirty="0"/>
              <a:t>Provide a one-sentence system description using this template: “A machine-based system that infers from input (XXX) to generate outputs such as predictions/recognitions (XXX), content (XXX), recommendations (XXX), or decisions (XXX), impacting physical (XXX) or virtual (XXX) environments.” Note that you might need to delete certain content (if necessary) from this template for your selected use case.</a:t>
            </a:r>
            <a:endParaRPr lang="en-US" sz="1800" dirty="0"/>
          </a:p>
          <a:p>
            <a:r>
              <a:rPr lang="en-US" sz="1800" dirty="0">
                <a:solidFill>
                  <a:srgbClr val="000000"/>
                </a:solidFill>
              </a:rPr>
              <a:t>Does it focus on automating repetitive tasks or augmenting decision-making?</a:t>
            </a:r>
            <a:endParaRPr lang="en-US" sz="1800" dirty="0">
              <a:solidFill>
                <a:srgbClr val="000000"/>
              </a:solidFill>
            </a:endParaRPr>
          </a:p>
        </p:txBody>
      </p:sp>
      <p:sp>
        <p:nvSpPr>
          <p:cNvPr id="5" name="Slide Number Placeholder 4"/>
          <p:cNvSpPr>
            <a:spLocks noGrp="1"/>
          </p:cNvSpPr>
          <p:nvPr>
            <p:ph type="sldNum" sz="quarter" idx="4"/>
          </p:nvPr>
        </p:nvSpPr>
        <p:spPr/>
        <p:txBody>
          <a:bodyPr/>
          <a:lstStyle/>
          <a:p>
            <a:pPr algn="ctr"/>
            <a:r>
              <a:rPr lang="en-SG"/>
              <a:t>Page </a:t>
            </a:r>
            <a:fld id="{2F63C605-4FC6-46DE-BC90-871762EA3F52}" type="slidenum">
              <a:rPr lang="en-SG" smtClean="0"/>
            </a:fld>
            <a:endParaRPr lang="en-SG" dirty="0"/>
          </a:p>
        </p:txBody>
      </p:sp>
      <p:sp>
        <p:nvSpPr>
          <p:cNvPr id="6" name="文本框 5"/>
          <p:cNvSpPr txBox="1"/>
          <p:nvPr/>
        </p:nvSpPr>
        <p:spPr>
          <a:xfrm>
            <a:off x="628650" y="3997960"/>
            <a:ext cx="7962265" cy="2456180"/>
          </a:xfrm>
          <a:prstGeom prst="rect">
            <a:avLst/>
          </a:prstGeom>
          <a:noFill/>
        </p:spPr>
        <p:txBody>
          <a:bodyPr wrap="square" rtlCol="0">
            <a:normAutofit/>
          </a:bodyPr>
          <a:p>
            <a:pPr algn="l"/>
            <a:r>
              <a:rPr lang="en-US" altLang="zh-CN" dirty="0" err="1" smtClean="0">
                <a:solidFill>
                  <a:schemeClr val="tx1"/>
                </a:solidFill>
              </a:rPr>
              <a:t>A:</a:t>
            </a:r>
            <a:endParaRPr lang="en-US" altLang="zh-CN" dirty="0" err="1" smtClean="0">
              <a:solidFill>
                <a:schemeClr val="tx1"/>
              </a:solidFill>
            </a:endParaRPr>
          </a:p>
          <a:p>
            <a:pPr algn="l"/>
            <a:r>
              <a:rPr lang="en-US" altLang="zh-CN" sz="1600" b="1" dirty="0" err="1" smtClean="0">
                <a:solidFill>
                  <a:schemeClr val="tx1"/>
                </a:solidFill>
              </a:rPr>
              <a:t>System description</a:t>
            </a:r>
            <a:r>
              <a:rPr lang="en-US" altLang="zh-CN" sz="1600" dirty="0" err="1" smtClean="0">
                <a:solidFill>
                  <a:schemeClr val="tx1"/>
                </a:solidFill>
              </a:rPr>
              <a:t>: A machine-based system that infers from input text prompts to generate outputs such as classification labels (e.g., benign, toxic, policy-violating), impacting virtual environments such as content moderation, access control, and automated filtering systems.</a:t>
            </a:r>
            <a:endParaRPr lang="en-US" altLang="zh-CN" sz="1600" dirty="0" err="1" smtClean="0">
              <a:solidFill>
                <a:schemeClr val="tx1"/>
              </a:solidFill>
            </a:endParaRPr>
          </a:p>
          <a:p>
            <a:pPr algn="l"/>
            <a:endParaRPr lang="en-US" altLang="zh-CN" sz="1600" dirty="0" err="1" smtClean="0">
              <a:solidFill>
                <a:schemeClr val="tx1"/>
              </a:solidFill>
            </a:endParaRPr>
          </a:p>
          <a:p>
            <a:pPr algn="l"/>
            <a:r>
              <a:rPr lang="en-US" altLang="zh-CN" sz="1600" dirty="0" err="1" smtClean="0">
                <a:solidFill>
                  <a:schemeClr val="tx1"/>
                </a:solidFill>
              </a:rPr>
              <a:t>This system primarily focuses on automating repetitive moderation tasks, such as screening large volumes of user prompts to detect harmful, policy-violating, or unsafe content, while potentially augmenting human reviewers in decision-making processes.</a:t>
            </a:r>
            <a:endParaRPr lang="en-US" altLang="zh-CN" sz="1600" dirty="0" err="1" smtClean="0">
              <a:solidFill>
                <a:schemeClr val="tx1"/>
              </a:solidFill>
            </a:endParaRPr>
          </a:p>
          <a:p>
            <a:pPr algn="l"/>
            <a:endParaRPr lang="en-US" altLang="zh-CN" sz="1600" dirty="0" err="1" smtClean="0">
              <a:solidFill>
                <a:schemeClr val="tx1"/>
              </a:solidFill>
            </a:endParaRPr>
          </a:p>
        </p:txBody>
      </p:sp>
      <p:sp>
        <p:nvSpPr>
          <p:cNvPr id="7" name="文本框 6"/>
          <p:cNvSpPr txBox="1"/>
          <p:nvPr/>
        </p:nvSpPr>
        <p:spPr>
          <a:xfrm>
            <a:off x="28594050" y="4322445"/>
            <a:ext cx="3048000" cy="914400"/>
          </a:xfrm>
          <a:prstGeom prst="rect">
            <a:avLst/>
          </a:prstGeom>
          <a:noFill/>
        </p:spPr>
        <p:txBody>
          <a:bodyPr wrap="square" rtlCol="0">
            <a:noAutofit/>
          </a:bodyPr>
          <a:p>
            <a:pPr algn="l"/>
            <a:endParaRPr lang="en-US" altLang="zh-CN" dirty="0" err="1" smtClean="0">
              <a:solidFill>
                <a:schemeClr val="tx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SG" sz="2400" dirty="0"/>
              <a:t>Q2. </a:t>
            </a:r>
            <a:r>
              <a:rPr lang="en-US" sz="2400" dirty="0"/>
              <a:t>Identify a potential threat to the traditional AI system in your case study</a:t>
            </a:r>
            <a:endParaRPr lang="en-SG" sz="2400" dirty="0"/>
          </a:p>
        </p:txBody>
      </p:sp>
      <p:sp>
        <p:nvSpPr>
          <p:cNvPr id="3" name="Text Placeholder 2"/>
          <p:cNvSpPr>
            <a:spLocks noGrp="1"/>
          </p:cNvSpPr>
          <p:nvPr>
            <p:ph type="body" sz="quarter" idx="13"/>
          </p:nvPr>
        </p:nvSpPr>
        <p:spPr>
          <a:xfrm>
            <a:off x="628650" y="1167130"/>
            <a:ext cx="7886700" cy="5012055"/>
          </a:xfrm>
        </p:spPr>
        <p:txBody>
          <a:bodyPr>
            <a:normAutofit fontScale="80000"/>
          </a:bodyPr>
          <a:lstStyle/>
          <a:p>
            <a:pPr marL="0" indent="0">
              <a:buNone/>
            </a:pPr>
            <a:r>
              <a:rPr lang="en-US" sz="1800" dirty="0"/>
              <a:t>Identify </a:t>
            </a:r>
            <a:r>
              <a:rPr lang="en-US" sz="1800" b="1" dirty="0"/>
              <a:t>ONE</a:t>
            </a:r>
            <a:r>
              <a:rPr lang="en-US" sz="1800" dirty="0"/>
              <a:t> potential threat, and answer the following by referring to the taxonomy of threat models of traditional AI systems:</a:t>
            </a:r>
            <a:endParaRPr lang="en-US" sz="1800" dirty="0"/>
          </a:p>
          <a:p>
            <a:r>
              <a:rPr lang="en-US" sz="1750" dirty="0"/>
              <a:t>Is it an evasion attack or a poisoning attack?</a:t>
            </a:r>
            <a:endParaRPr lang="en-US" sz="1750" dirty="0"/>
          </a:p>
          <a:p>
            <a:r>
              <a:rPr lang="en-US" sz="1750" b="1" dirty="0"/>
              <a:t>A:</a:t>
            </a:r>
            <a:r>
              <a:rPr lang="en-US" sz="1750" dirty="0"/>
              <a:t> Evasion attack. </a:t>
            </a:r>
            <a:r>
              <a:rPr lang="en-US" altLang="zh-CN" sz="1750" dirty="0"/>
              <a:t>The attacker manipulates the input prompt at inference time to bypass the classifier without modifying the training data.</a:t>
            </a:r>
            <a:endParaRPr lang="en-US" altLang="zh-CN" sz="1750" dirty="0"/>
          </a:p>
          <a:p>
            <a:r>
              <a:rPr lang="en-US" sz="1750" dirty="0"/>
              <a:t>What are the attacker’s goals?</a:t>
            </a:r>
            <a:endParaRPr lang="en-US" sz="1750" dirty="0"/>
          </a:p>
          <a:p>
            <a:r>
              <a:rPr lang="en-US" sz="1750" b="1" dirty="0"/>
              <a:t>A:</a:t>
            </a:r>
            <a:r>
              <a:rPr lang="en-US" sz="1750" dirty="0"/>
              <a:t> </a:t>
            </a:r>
            <a:r>
              <a:rPr lang="en-US" altLang="zh-CN" sz="1750" dirty="0"/>
              <a:t>Integrity violation. The attacker aims to cause the system to produce incorrect classification results (e.g., classifying harmful content as benign).</a:t>
            </a:r>
            <a:endParaRPr lang="en-US" altLang="zh-CN" sz="1750" dirty="0"/>
          </a:p>
          <a:p>
            <a:r>
              <a:rPr lang="en-US" sz="1750" dirty="0"/>
              <a:t>What are the attacker’s specific objectives?</a:t>
            </a:r>
            <a:endParaRPr lang="en-US" sz="1750" dirty="0"/>
          </a:p>
          <a:p>
            <a:r>
              <a:rPr lang="en-US" sz="1750" b="1" dirty="0"/>
              <a:t>A:</a:t>
            </a:r>
            <a:r>
              <a:rPr lang="en-US" sz="1750" dirty="0"/>
              <a:t> </a:t>
            </a:r>
            <a:r>
              <a:rPr lang="en-US" altLang="zh-CN" sz="1750" dirty="0"/>
              <a:t>Targeted misclassification. The attacker’s objective is to craft a harmful or policy-violating prompt that is intentionally misclassified as “safe” or “benign.”</a:t>
            </a:r>
            <a:endParaRPr lang="en-US" altLang="zh-CN" sz="1750" dirty="0"/>
          </a:p>
          <a:p>
            <a:r>
              <a:rPr lang="en-US" sz="1750" dirty="0"/>
              <a:t>What capabilities might the attacker have (how to interact with the AI systems)?</a:t>
            </a:r>
            <a:endParaRPr lang="en-US" sz="1750" dirty="0"/>
          </a:p>
          <a:p>
            <a:r>
              <a:rPr lang="en-US" sz="1750" b="1" dirty="0"/>
              <a:t>A:</a:t>
            </a:r>
            <a:r>
              <a:rPr lang="en-US" sz="1750" dirty="0"/>
              <a:t> </a:t>
            </a:r>
            <a:endParaRPr lang="en-US" sz="1750" dirty="0"/>
          </a:p>
          <a:p>
            <a:pPr lvl="1"/>
            <a:r>
              <a:rPr lang="en-US" altLang="zh-CN" sz="1750" dirty="0"/>
              <a:t>Test data control: The attacker can freely modify and submit input prompts.</a:t>
            </a:r>
            <a:endParaRPr lang="en-US" altLang="zh-CN" sz="1750" dirty="0"/>
          </a:p>
          <a:p>
            <a:pPr lvl="1"/>
            <a:r>
              <a:rPr lang="en-US" altLang="zh-CN" sz="1750" dirty="0"/>
              <a:t>Query access (API access): The attacker can repeatedly test variations of prompts and observe the classification outputs.</a:t>
            </a:r>
            <a:endParaRPr lang="en-US" altLang="zh-CN" sz="1750" dirty="0"/>
          </a:p>
          <a:p>
            <a:pPr lvl="1"/>
            <a:r>
              <a:rPr lang="en-US" altLang="zh-CN" sz="1750" dirty="0"/>
              <a:t>Black-box knowledge: The attacker does not know model parameters but can infer system behavior through repeated queries.</a:t>
            </a:r>
            <a:endParaRPr lang="en-US" altLang="zh-CN" sz="1750" dirty="0"/>
          </a:p>
        </p:txBody>
      </p:sp>
      <p:sp>
        <p:nvSpPr>
          <p:cNvPr id="5" name="Slide Number Placeholder 4"/>
          <p:cNvSpPr>
            <a:spLocks noGrp="1"/>
          </p:cNvSpPr>
          <p:nvPr>
            <p:ph type="sldNum" sz="quarter" idx="4"/>
          </p:nvPr>
        </p:nvSpPr>
        <p:spPr/>
        <p:txBody>
          <a:bodyPr/>
          <a:lstStyle/>
          <a:p>
            <a:pPr algn="ctr"/>
            <a:r>
              <a:rPr lang="en-SG"/>
              <a:t>Page </a:t>
            </a:r>
            <a:fld id="{2F63C605-4FC6-46DE-BC90-871762EA3F52}" type="slidenum">
              <a:rPr lang="en-SG" smtClean="0"/>
            </a:fld>
            <a:endParaRPr lang="en-SG"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SG" sz="2400" dirty="0"/>
              <a:t>Q3: </a:t>
            </a:r>
            <a:r>
              <a:rPr lang="en-US" sz="2400" dirty="0"/>
              <a:t>Recommend risk mitigation strategy to the traditional AI system in your case study</a:t>
            </a:r>
            <a:endParaRPr lang="en-SG" sz="2400" dirty="0"/>
          </a:p>
        </p:txBody>
      </p:sp>
      <p:sp>
        <p:nvSpPr>
          <p:cNvPr id="3" name="Text Placeholder 2"/>
          <p:cNvSpPr>
            <a:spLocks noGrp="1"/>
          </p:cNvSpPr>
          <p:nvPr>
            <p:ph type="body" sz="quarter" idx="13"/>
          </p:nvPr>
        </p:nvSpPr>
        <p:spPr/>
        <p:txBody>
          <a:bodyPr>
            <a:normAutofit/>
          </a:bodyPr>
          <a:lstStyle/>
          <a:p>
            <a:pPr marL="0" indent="0">
              <a:buNone/>
            </a:pPr>
            <a:r>
              <a:rPr lang="en-US" sz="1800" dirty="0"/>
              <a:t>Propose risk mitigation strategies by exploring the following key questions:</a:t>
            </a:r>
            <a:endParaRPr lang="en-US" sz="1800" dirty="0"/>
          </a:p>
          <a:p>
            <a:r>
              <a:rPr lang="en-US" sz="1800" dirty="0"/>
              <a:t>As the AI system owner, how would you assess your AI system’s performance with respect to the identified risks?</a:t>
            </a:r>
            <a:endParaRPr lang="en-US" sz="1800" dirty="0"/>
          </a:p>
          <a:p>
            <a:pPr lvl="1" algn="just"/>
            <a:r>
              <a:rPr lang="en-US" sz="1800" dirty="0">
                <a:solidFill>
                  <a:schemeClr val="tx1"/>
                </a:solidFill>
              </a:rPr>
              <a:t>Consider how you can assess the system's vulnerability to the risks you previously outlined. What metrics or evaluation methods would best capture potential weaknesses or threats?</a:t>
            </a:r>
            <a:endParaRPr lang="en-US" sz="1800" dirty="0">
              <a:solidFill>
                <a:schemeClr val="tx1"/>
              </a:solidFill>
            </a:endParaRPr>
          </a:p>
          <a:p>
            <a:r>
              <a:rPr lang="en-US" sz="1800" dirty="0"/>
              <a:t>Which mitigation or defense methods would you recommend to address these risks?</a:t>
            </a:r>
            <a:endParaRPr lang="en-US" sz="1800" dirty="0"/>
          </a:p>
          <a:p>
            <a:pPr lvl="1" algn="just"/>
            <a:r>
              <a:rPr lang="en-US" sz="1800" dirty="0">
                <a:solidFill>
                  <a:schemeClr val="tx1"/>
                </a:solidFill>
              </a:rPr>
              <a:t>Based on your analysis, suggest specific strategies that can minimize or eliminate the identified risks.</a:t>
            </a:r>
            <a:endParaRPr lang="en-US" sz="1800" dirty="0">
              <a:solidFill>
                <a:schemeClr val="tx1"/>
              </a:solidFill>
            </a:endParaRPr>
          </a:p>
        </p:txBody>
      </p:sp>
      <p:sp>
        <p:nvSpPr>
          <p:cNvPr id="5" name="Slide Number Placeholder 4"/>
          <p:cNvSpPr>
            <a:spLocks noGrp="1"/>
          </p:cNvSpPr>
          <p:nvPr>
            <p:ph type="sldNum" sz="quarter" idx="4"/>
          </p:nvPr>
        </p:nvSpPr>
        <p:spPr/>
        <p:txBody>
          <a:bodyPr/>
          <a:lstStyle/>
          <a:p>
            <a:pPr algn="ctr"/>
            <a:r>
              <a:rPr lang="en-SG"/>
              <a:t>Page </a:t>
            </a:r>
            <a:fld id="{2F63C605-4FC6-46DE-BC90-871762EA3F52}" type="slidenum">
              <a:rPr lang="en-SG" smtClean="0"/>
            </a:fld>
            <a:endParaRPr lang="en-SG" dirty="0"/>
          </a:p>
        </p:txBody>
      </p:sp>
      <p:sp>
        <p:nvSpPr>
          <p:cNvPr id="4" name="文本框 3"/>
          <p:cNvSpPr txBox="1"/>
          <p:nvPr/>
        </p:nvSpPr>
        <p:spPr>
          <a:xfrm>
            <a:off x="521335" y="4155440"/>
            <a:ext cx="8304530" cy="2337435"/>
          </a:xfrm>
          <a:prstGeom prst="rect">
            <a:avLst/>
          </a:prstGeom>
          <a:noFill/>
        </p:spPr>
        <p:txBody>
          <a:bodyPr wrap="none" rtlCol="0">
            <a:noAutofit/>
          </a:bodyPr>
          <a:p>
            <a:pPr algn="l"/>
            <a:r>
              <a:rPr lang="en-US" altLang="zh-CN" sz="1600" b="1" dirty="0" err="1" smtClean="0">
                <a:solidFill>
                  <a:schemeClr val="tx1"/>
                </a:solidFill>
              </a:rPr>
              <a:t>Q1: </a:t>
            </a:r>
            <a:endParaRPr lang="en-US" altLang="zh-CN" sz="1600" b="1" dirty="0" err="1" smtClean="0">
              <a:solidFill>
                <a:schemeClr val="tx1"/>
              </a:solidFill>
            </a:endParaRPr>
          </a:p>
          <a:p>
            <a:pPr algn="l"/>
            <a:r>
              <a:rPr lang="en-US" altLang="zh-CN" sz="1600" b="1" dirty="0" err="1" smtClean="0">
                <a:solidFill>
                  <a:schemeClr val="tx1"/>
                </a:solidFill>
              </a:rPr>
              <a:t>How to assess the risk?</a:t>
            </a:r>
            <a:endParaRPr lang="en-US" altLang="zh-CN" sz="1600" dirty="0" err="1" smtClean="0">
              <a:solidFill>
                <a:schemeClr val="tx1"/>
              </a:solidFill>
            </a:endParaRPr>
          </a:p>
          <a:p>
            <a:pPr marL="285750" indent="-285750" algn="l">
              <a:buFont typeface="Arial" panose="020B0604020202020204" pitchFamily="34" charset="0"/>
              <a:buChar char="•"/>
            </a:pPr>
            <a:r>
              <a:rPr lang="en-US" altLang="zh-CN" sz="1400" dirty="0" err="1" smtClean="0">
                <a:solidFill>
                  <a:schemeClr val="tx1"/>
                </a:solidFill>
              </a:rPr>
              <a:t>Measure Adversarial Success Rate (ASR)</a:t>
            </a:r>
            <a:endParaRPr lang="en-US" altLang="zh-CN" sz="1400" dirty="0" err="1" smtClean="0">
              <a:solidFill>
                <a:schemeClr val="tx1"/>
              </a:solidFill>
            </a:endParaRPr>
          </a:p>
          <a:p>
            <a:pPr marL="285750" indent="-285750" algn="l">
              <a:buFont typeface="Arial" panose="020B0604020202020204" pitchFamily="34" charset="0"/>
              <a:buChar char="•"/>
            </a:pPr>
            <a:r>
              <a:rPr lang="en-US" altLang="zh-CN" sz="1400" dirty="0" err="1" smtClean="0">
                <a:solidFill>
                  <a:schemeClr val="tx1"/>
                </a:solidFill>
              </a:rPr>
              <a:t>Evaluate recall of harmful prompts under attack</a:t>
            </a:r>
            <a:endParaRPr lang="en-US" altLang="zh-CN" sz="1400" dirty="0" err="1" smtClean="0">
              <a:solidFill>
                <a:schemeClr val="tx1"/>
              </a:solidFill>
            </a:endParaRPr>
          </a:p>
          <a:p>
            <a:pPr marL="285750" indent="-285750" algn="l">
              <a:buFont typeface="Arial" panose="020B0604020202020204" pitchFamily="34" charset="0"/>
              <a:buChar char="•"/>
            </a:pPr>
            <a:r>
              <a:rPr lang="en-US" altLang="zh-CN" sz="1400" dirty="0" err="1" smtClean="0">
                <a:solidFill>
                  <a:schemeClr val="tx1"/>
                </a:solidFill>
              </a:rPr>
              <a:t>Compare accuracy before and after adversarial perturbations</a:t>
            </a:r>
            <a:endParaRPr lang="en-US" altLang="zh-CN" sz="1400" dirty="0" err="1" smtClean="0">
              <a:solidFill>
                <a:schemeClr val="tx1"/>
              </a:solidFill>
            </a:endParaRPr>
          </a:p>
          <a:p>
            <a:pPr marL="285750" indent="-285750" algn="l">
              <a:buFont typeface="Arial" panose="020B0604020202020204" pitchFamily="34" charset="0"/>
              <a:buChar char="•"/>
            </a:pPr>
            <a:r>
              <a:rPr lang="en-US" altLang="zh-CN" sz="1400" dirty="0" err="1" smtClean="0">
                <a:solidFill>
                  <a:schemeClr val="tx1"/>
                </a:solidFill>
              </a:rPr>
              <a:t>Conduct red teaming simulations</a:t>
            </a:r>
            <a:endParaRPr lang="en-US" altLang="zh-CN" sz="1400" dirty="0" err="1" smtClean="0">
              <a:solidFill>
                <a:schemeClr val="tx1"/>
              </a:solidFill>
            </a:endParaRPr>
          </a:p>
          <a:p>
            <a:pPr indent="0" algn="l">
              <a:buFont typeface="Arial" panose="020B0604020202020204" pitchFamily="34" charset="0"/>
              <a:buNone/>
            </a:pPr>
            <a:r>
              <a:rPr lang="en-US" altLang="zh-CN" sz="1600" b="1" dirty="0" err="1" smtClean="0">
                <a:solidFill>
                  <a:schemeClr val="tx1"/>
                </a:solidFill>
              </a:rPr>
              <a:t>How to evaluate vulnerability?</a:t>
            </a:r>
            <a:endParaRPr lang="en-US" altLang="zh-CN" sz="1600" b="1" dirty="0" err="1" smtClean="0">
              <a:solidFill>
                <a:schemeClr val="tx1"/>
              </a:solidFill>
            </a:endParaRPr>
          </a:p>
          <a:p>
            <a:pPr marL="285750" indent="-285750" algn="l">
              <a:buFont typeface="Arial" panose="020B0604020202020204" pitchFamily="34" charset="0"/>
              <a:buChar char="•"/>
            </a:pPr>
            <a:r>
              <a:rPr lang="en-US" altLang="zh-CN" sz="1400" dirty="0" err="1" smtClean="0">
                <a:solidFill>
                  <a:schemeClr val="tx1"/>
                </a:solidFill>
              </a:rPr>
              <a:t>Perform adversarial testing using paraphrased and obfuscated prompts</a:t>
            </a:r>
            <a:endParaRPr lang="en-US" altLang="zh-CN" sz="1400" dirty="0" err="1" smtClean="0">
              <a:solidFill>
                <a:schemeClr val="tx1"/>
              </a:solidFill>
            </a:endParaRPr>
          </a:p>
          <a:p>
            <a:pPr marL="285750" indent="-285750" algn="l">
              <a:buFont typeface="Arial" panose="020B0604020202020204" pitchFamily="34" charset="0"/>
              <a:buChar char="•"/>
            </a:pPr>
            <a:r>
              <a:rPr lang="en-US" altLang="zh-CN" sz="1400" dirty="0" err="1" smtClean="0">
                <a:solidFill>
                  <a:schemeClr val="tx1"/>
                </a:solidFill>
              </a:rPr>
              <a:t>Conduct black-box stress testing</a:t>
            </a:r>
            <a:endParaRPr lang="en-US" altLang="zh-CN" sz="1400" dirty="0" err="1" smtClean="0">
              <a:solidFill>
                <a:schemeClr val="tx1"/>
              </a:solidFill>
            </a:endParaRPr>
          </a:p>
          <a:p>
            <a:pPr marL="285750" indent="-285750" algn="l">
              <a:buFont typeface="Arial" panose="020B0604020202020204" pitchFamily="34" charset="0"/>
              <a:buChar char="•"/>
            </a:pPr>
            <a:r>
              <a:rPr lang="en-US" altLang="zh-CN" sz="1400" dirty="0" err="1" smtClean="0">
                <a:solidFill>
                  <a:schemeClr val="tx1"/>
                </a:solidFill>
              </a:rPr>
              <a:t>Monitor prediction confidence levels</a:t>
            </a:r>
            <a:endParaRPr lang="en-US" altLang="zh-CN" sz="1400" dirty="0" err="1" smtClean="0">
              <a:solidFill>
                <a:schemeClr val="tx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SG" sz="2400" dirty="0"/>
              <a:t>Q3: </a:t>
            </a:r>
            <a:r>
              <a:rPr lang="en-US" sz="2400" dirty="0"/>
              <a:t>Recommend risk mitigation strategy to the traditional AI system in your case study</a:t>
            </a:r>
            <a:endParaRPr lang="en-SG" sz="2400" dirty="0"/>
          </a:p>
        </p:txBody>
      </p:sp>
      <p:sp>
        <p:nvSpPr>
          <p:cNvPr id="3" name="Text Placeholder 2"/>
          <p:cNvSpPr>
            <a:spLocks noGrp="1"/>
          </p:cNvSpPr>
          <p:nvPr>
            <p:ph type="body" sz="quarter" idx="13"/>
          </p:nvPr>
        </p:nvSpPr>
        <p:spPr/>
        <p:txBody>
          <a:bodyPr>
            <a:normAutofit/>
          </a:bodyPr>
          <a:lstStyle/>
          <a:p>
            <a:pPr marL="0" indent="0">
              <a:buNone/>
            </a:pPr>
            <a:r>
              <a:rPr lang="en-US" sz="1800" dirty="0"/>
              <a:t>Propose risk mitigation strategies by exploring the following key questions:</a:t>
            </a:r>
            <a:endParaRPr lang="en-US" sz="1800" dirty="0"/>
          </a:p>
          <a:p>
            <a:r>
              <a:rPr lang="en-US" sz="1800" dirty="0"/>
              <a:t>As the AI system owner, how would you assess your AI system’s performance with respect to the identified risks?</a:t>
            </a:r>
            <a:endParaRPr lang="en-US" sz="1800" dirty="0"/>
          </a:p>
          <a:p>
            <a:pPr lvl="1" algn="just"/>
            <a:r>
              <a:rPr lang="en-US" sz="1800" dirty="0">
                <a:solidFill>
                  <a:schemeClr val="tx1"/>
                </a:solidFill>
              </a:rPr>
              <a:t>Consider how you can assess the system's vulnerability to the risks you previously outlined. What metrics or evaluation methods would best capture potential weaknesses or threats?</a:t>
            </a:r>
            <a:endParaRPr lang="en-US" sz="1800" dirty="0">
              <a:solidFill>
                <a:schemeClr val="tx1"/>
              </a:solidFill>
            </a:endParaRPr>
          </a:p>
          <a:p>
            <a:r>
              <a:rPr lang="en-US" sz="1800" dirty="0"/>
              <a:t>Which mitigation or defense methods would you recommend to address these risks?</a:t>
            </a:r>
            <a:endParaRPr lang="en-US" sz="1800" dirty="0"/>
          </a:p>
          <a:p>
            <a:pPr lvl="1" algn="just"/>
            <a:r>
              <a:rPr lang="en-US" sz="1800" dirty="0">
                <a:solidFill>
                  <a:schemeClr val="tx1"/>
                </a:solidFill>
              </a:rPr>
              <a:t>Based on your analysis, suggest specific strategies that can minimize or eliminate the identified risks.</a:t>
            </a:r>
            <a:endParaRPr lang="en-US" sz="1800" dirty="0">
              <a:solidFill>
                <a:schemeClr val="tx1"/>
              </a:solidFill>
            </a:endParaRPr>
          </a:p>
        </p:txBody>
      </p:sp>
      <p:sp>
        <p:nvSpPr>
          <p:cNvPr id="5" name="Slide Number Placeholder 4"/>
          <p:cNvSpPr>
            <a:spLocks noGrp="1"/>
          </p:cNvSpPr>
          <p:nvPr>
            <p:ph type="sldNum" sz="quarter" idx="4"/>
          </p:nvPr>
        </p:nvSpPr>
        <p:spPr/>
        <p:txBody>
          <a:bodyPr/>
          <a:lstStyle/>
          <a:p>
            <a:pPr algn="ctr"/>
            <a:r>
              <a:rPr lang="en-SG"/>
              <a:t>Page </a:t>
            </a:r>
            <a:fld id="{2F63C605-4FC6-46DE-BC90-871762EA3F52}" type="slidenum">
              <a:rPr lang="en-SG" smtClean="0"/>
            </a:fld>
            <a:endParaRPr lang="en-SG" dirty="0"/>
          </a:p>
        </p:txBody>
      </p:sp>
      <p:sp>
        <p:nvSpPr>
          <p:cNvPr id="4" name="文本框 3"/>
          <p:cNvSpPr txBox="1"/>
          <p:nvPr/>
        </p:nvSpPr>
        <p:spPr>
          <a:xfrm>
            <a:off x="521335" y="4155440"/>
            <a:ext cx="8304530" cy="2140585"/>
          </a:xfrm>
          <a:prstGeom prst="rect">
            <a:avLst/>
          </a:prstGeom>
          <a:noFill/>
        </p:spPr>
        <p:txBody>
          <a:bodyPr wrap="none" rtlCol="0">
            <a:noAutofit/>
          </a:bodyPr>
          <a:p>
            <a:pPr algn="l"/>
            <a:r>
              <a:rPr lang="en-US" altLang="zh-CN" sz="1600" b="1" dirty="0" err="1" smtClean="0">
                <a:solidFill>
                  <a:schemeClr val="tx1"/>
                </a:solidFill>
              </a:rPr>
              <a:t>Q2: </a:t>
            </a:r>
            <a:endParaRPr lang="en-US" altLang="zh-CN" sz="1600" b="1" dirty="0" err="1" smtClean="0">
              <a:solidFill>
                <a:schemeClr val="tx1"/>
              </a:solidFill>
            </a:endParaRPr>
          </a:p>
          <a:p>
            <a:pPr algn="l"/>
            <a:r>
              <a:rPr lang="en-US" altLang="zh-CN" sz="1600" b="1" dirty="0" err="1" smtClean="0">
                <a:solidFill>
                  <a:schemeClr val="tx1"/>
                </a:solidFill>
              </a:rPr>
              <a:t>Recommended mitigation strategies</a:t>
            </a:r>
            <a:endParaRPr lang="en-US" altLang="zh-CN" sz="1600" b="1" dirty="0" err="1" smtClean="0">
              <a:solidFill>
                <a:schemeClr val="tx1"/>
              </a:solidFill>
            </a:endParaRPr>
          </a:p>
          <a:p>
            <a:pPr algn="l"/>
            <a:r>
              <a:rPr lang="en-US" altLang="zh-CN" sz="1400" b="1" dirty="0" err="1" smtClean="0">
                <a:solidFill>
                  <a:schemeClr val="tx1"/>
                </a:solidFill>
              </a:rPr>
              <a:t>Training stage</a:t>
            </a:r>
            <a:endParaRPr lang="en-US" altLang="zh-CN" sz="1400" b="1" dirty="0" err="1" smtClean="0">
              <a:solidFill>
                <a:schemeClr val="tx1"/>
              </a:solidFill>
            </a:endParaRPr>
          </a:p>
          <a:p>
            <a:pPr marL="285750" indent="-285750" algn="l">
              <a:buFont typeface="Arial" panose="020B0604020202020204" pitchFamily="34" charset="0"/>
              <a:buChar char="•"/>
            </a:pPr>
            <a:r>
              <a:rPr lang="en-US" altLang="zh-CN" sz="1400" dirty="0" err="1" smtClean="0">
                <a:solidFill>
                  <a:schemeClr val="tx1"/>
                </a:solidFill>
              </a:rPr>
              <a:t>Adversarial re-training</a:t>
            </a:r>
            <a:endParaRPr lang="en-US" altLang="zh-CN" sz="1400" dirty="0" err="1" smtClean="0">
              <a:solidFill>
                <a:schemeClr val="tx1"/>
              </a:solidFill>
            </a:endParaRPr>
          </a:p>
          <a:p>
            <a:pPr marL="285750" indent="-285750" algn="l">
              <a:buFont typeface="Arial" panose="020B0604020202020204" pitchFamily="34" charset="0"/>
              <a:buChar char="•"/>
            </a:pPr>
            <a:r>
              <a:rPr lang="en-US" altLang="zh-CN" sz="1400" dirty="0" err="1" smtClean="0">
                <a:solidFill>
                  <a:schemeClr val="tx1"/>
                </a:solidFill>
              </a:rPr>
              <a:t>Ensemble learning</a:t>
            </a:r>
            <a:endParaRPr lang="en-US" altLang="zh-CN" sz="1400" dirty="0" err="1" smtClean="0">
              <a:solidFill>
                <a:schemeClr val="tx1"/>
              </a:solidFill>
            </a:endParaRPr>
          </a:p>
          <a:p>
            <a:pPr indent="0" algn="l">
              <a:buFont typeface="Arial" panose="020B0604020202020204" pitchFamily="34" charset="0"/>
              <a:buNone/>
            </a:pPr>
            <a:r>
              <a:rPr lang="en-US" altLang="zh-CN" sz="1400" b="1" dirty="0" err="1" smtClean="0">
                <a:solidFill>
                  <a:schemeClr val="tx1"/>
                </a:solidFill>
              </a:rPr>
              <a:t>Deployment stage</a:t>
            </a:r>
            <a:endParaRPr lang="en-US" altLang="zh-CN" sz="1400" b="1" dirty="0" err="1" smtClean="0">
              <a:solidFill>
                <a:schemeClr val="tx1"/>
              </a:solidFill>
            </a:endParaRPr>
          </a:p>
          <a:p>
            <a:pPr marL="285750" indent="-285750" algn="l">
              <a:buFont typeface="Arial" panose="020B0604020202020204" pitchFamily="34" charset="0"/>
              <a:buChar char="•"/>
            </a:pPr>
            <a:r>
              <a:rPr lang="en-US" altLang="zh-CN" sz="1400" dirty="0" err="1" smtClean="0">
                <a:solidFill>
                  <a:schemeClr val="tx1"/>
                </a:solidFill>
              </a:rPr>
              <a:t>Input guardrails (detect abnormal text patterns)</a:t>
            </a:r>
            <a:endParaRPr lang="en-US" altLang="zh-CN" sz="1400" dirty="0" err="1" smtClean="0">
              <a:solidFill>
                <a:schemeClr val="tx1"/>
              </a:solidFill>
            </a:endParaRPr>
          </a:p>
          <a:p>
            <a:pPr marL="285750" indent="-285750" algn="l">
              <a:buFont typeface="Arial" panose="020B0604020202020204" pitchFamily="34" charset="0"/>
              <a:buChar char="•"/>
            </a:pPr>
            <a:r>
              <a:rPr lang="en-US" altLang="zh-CN" sz="1400" dirty="0" err="1" smtClean="0">
                <a:solidFill>
                  <a:schemeClr val="tx1"/>
                </a:solidFill>
              </a:rPr>
              <a:t>Output confidence thresholds</a:t>
            </a:r>
            <a:endParaRPr lang="en-US" altLang="zh-CN" sz="1400" dirty="0" err="1" smtClean="0">
              <a:solidFill>
                <a:schemeClr val="tx1"/>
              </a:solidFill>
            </a:endParaRPr>
          </a:p>
          <a:p>
            <a:pPr marL="285750" indent="-285750" algn="l">
              <a:buFont typeface="Arial" panose="020B0604020202020204" pitchFamily="34" charset="0"/>
              <a:buChar char="•"/>
            </a:pPr>
            <a:r>
              <a:rPr lang="en-US" altLang="zh-CN" sz="1400" dirty="0" err="1" smtClean="0">
                <a:solidFill>
                  <a:schemeClr val="tx1"/>
                </a:solidFill>
              </a:rPr>
              <a:t>Query monitoring and rate limiting</a:t>
            </a:r>
            <a:endParaRPr lang="en-US" altLang="zh-CN" sz="1400" dirty="0" err="1" smtClean="0">
              <a:solidFill>
                <a:schemeClr val="tx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AI Tool Declaration</a:t>
            </a:r>
            <a:endParaRPr lang="en-SG" dirty="0"/>
          </a:p>
        </p:txBody>
      </p:sp>
      <p:graphicFrame>
        <p:nvGraphicFramePr>
          <p:cNvPr id="5" name="Table 4"/>
          <p:cNvGraphicFramePr>
            <a:graphicFrameLocks noGrp="1"/>
          </p:cNvGraphicFramePr>
          <p:nvPr/>
        </p:nvGraphicFramePr>
        <p:xfrm>
          <a:off x="342181" y="1164086"/>
          <a:ext cx="8318740" cy="4023360"/>
        </p:xfrm>
        <a:graphic>
          <a:graphicData uri="http://schemas.openxmlformats.org/drawingml/2006/table">
            <a:tbl>
              <a:tblPr firstRow="1" bandRow="1">
                <a:tableStyleId>{5C22544A-7EE6-4342-B048-85BDC9FD1C3A}</a:tableStyleId>
              </a:tblPr>
              <a:tblGrid>
                <a:gridCol w="8318740"/>
              </a:tblGrid>
              <a:tr h="370840">
                <a:tc>
                  <a:txBody>
                    <a:bodyPr/>
                    <a:lstStyle/>
                    <a:p>
                      <a:r>
                        <a:rPr lang="en-US" b="0" dirty="0">
                          <a:solidFill>
                            <a:schemeClr val="tx1"/>
                          </a:solidFill>
                        </a:rPr>
                        <a:t>[</a:t>
                      </a:r>
                      <a:r>
                        <a:rPr lang="en-US" b="0" i="1" dirty="0">
                          <a:solidFill>
                            <a:schemeClr val="tx1"/>
                          </a:solidFill>
                        </a:rPr>
                        <a:t>Sample declaration copied from Canvas</a:t>
                      </a:r>
                      <a:r>
                        <a:rPr lang="en-US" b="0" dirty="0">
                          <a:solidFill>
                            <a:schemeClr val="tx1"/>
                          </a:solidFill>
                        </a:rPr>
                        <a:t>]</a:t>
                      </a:r>
                      <a:endParaRPr lang="en-US" b="0" dirty="0">
                        <a:solidFill>
                          <a:schemeClr val="tx1"/>
                        </a:solidFill>
                      </a:endParaRPr>
                    </a:p>
                    <a:p>
                      <a:endParaRPr lang="en-US" b="0" dirty="0">
                        <a:solidFill>
                          <a:schemeClr val="tx1"/>
                        </a:solidFill>
                      </a:endParaRPr>
                    </a:p>
                    <a:p>
                      <a:pPr marL="285750" indent="-285750">
                        <a:buFont typeface="Arial" panose="020B0604020202020204" pitchFamily="34" charset="0"/>
                        <a:buChar char="•"/>
                      </a:pPr>
                      <a:r>
                        <a:rPr lang="en-US" b="0" dirty="0">
                          <a:solidFill>
                            <a:schemeClr val="tx1"/>
                          </a:solidFill>
                        </a:rPr>
                        <a:t>The authors didn't use any AI tool.</a:t>
                      </a:r>
                      <a:endParaRPr lang="en-US" b="0" dirty="0">
                        <a:solidFill>
                          <a:schemeClr val="tx1"/>
                        </a:solidFill>
                      </a:endParaRPr>
                    </a:p>
                    <a:p>
                      <a:pPr marL="285750" indent="-285750">
                        <a:buFont typeface="Arial" panose="020B0604020202020204" pitchFamily="34" charset="0"/>
                        <a:buChar char="•"/>
                      </a:pPr>
                      <a:endParaRPr lang="en-US" b="0" dirty="0">
                        <a:solidFill>
                          <a:schemeClr val="tx1"/>
                        </a:solidFill>
                      </a:endParaRPr>
                    </a:p>
                    <a:p>
                      <a:pPr marL="285750" indent="-285750">
                        <a:buFont typeface="Arial" panose="020B0604020202020204" pitchFamily="34" charset="0"/>
                        <a:buChar char="•"/>
                      </a:pPr>
                      <a:r>
                        <a:rPr lang="en-US" b="0" dirty="0">
                          <a:solidFill>
                            <a:schemeClr val="tx1"/>
                          </a:solidFill>
                        </a:rPr>
                        <a:t>The authors used [AI tool name, e.g., GPT-5.1] to [describe specific uses: e.g., generate ideas, format paragraphs, improve expression, </a:t>
                      </a:r>
                      <a:r>
                        <a:rPr lang="en-US" b="0" dirty="0" err="1">
                          <a:solidFill>
                            <a:schemeClr val="tx1"/>
                          </a:solidFill>
                        </a:rPr>
                        <a:t>analyse</a:t>
                      </a:r>
                      <a:r>
                        <a:rPr lang="en-US" b="0" dirty="0">
                          <a:solidFill>
                            <a:schemeClr val="tx1"/>
                          </a:solidFill>
                        </a:rPr>
                        <a:t> effectiveness, create images and illustrations, produce drafts, refine, and/or </a:t>
                      </a:r>
                      <a:r>
                        <a:rPr lang="en-US" b="0" dirty="0" err="1">
                          <a:solidFill>
                            <a:schemeClr val="tx1"/>
                          </a:solidFill>
                        </a:rPr>
                        <a:t>finalise</a:t>
                      </a:r>
                      <a:r>
                        <a:rPr lang="en-US" b="0" dirty="0">
                          <a:solidFill>
                            <a:schemeClr val="tx1"/>
                          </a:solidFill>
                        </a:rPr>
                        <a:t> my assignment]. The authors are responsible for the content and quality of the submitted work.</a:t>
                      </a:r>
                      <a:endParaRPr lang="en-SG"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r>
              <a:tr h="370840">
                <a:tc>
                  <a:txBody>
                    <a:bodyPr/>
                    <a:lstStyle/>
                    <a:p>
                      <a:r>
                        <a:rPr lang="en-US" b="0" dirty="0">
                          <a:solidFill>
                            <a:schemeClr val="tx1"/>
                          </a:solidFill>
                        </a:rPr>
                        <a:t>[</a:t>
                      </a:r>
                      <a:r>
                        <a:rPr lang="en-US" b="0" i="1" dirty="0">
                          <a:solidFill>
                            <a:schemeClr val="tx1"/>
                          </a:solidFill>
                        </a:rPr>
                        <a:t>Provide your declaration here]</a:t>
                      </a:r>
                      <a:endParaRPr lang="en-US" b="0" i="1" dirty="0">
                        <a:solidFill>
                          <a:schemeClr val="tx1"/>
                        </a:solidFill>
                      </a:endParaRPr>
                    </a:p>
                    <a:p>
                      <a:r>
                        <a:rPr lang="en-US" sz="1800" dirty="0">
                          <a:solidFill>
                            <a:schemeClr val="tx1"/>
                          </a:solidFill>
                          <a:sym typeface="+mn-ea"/>
                        </a:rPr>
                        <a:t>The authors used GPT-5.2 to improve expression. The authors are responsible for the content and quality of the submitted work.</a:t>
                      </a:r>
                      <a:endParaRPr lang="en-SG" sz="1800" b="0" dirty="0">
                        <a:solidFill>
                          <a:schemeClr val="tx1"/>
                        </a:solidFill>
                      </a:endParaRPr>
                    </a:p>
                    <a:p>
                      <a:endParaRPr lang="en-SG" b="0" dirty="0">
                        <a:solidFill>
                          <a:schemeClr val="tx1"/>
                        </a:solidFill>
                      </a:endParaRPr>
                    </a:p>
                    <a:p>
                      <a:endParaRPr lang="en-SG" b="0" dirty="0">
                        <a:solidFill>
                          <a:schemeClr val="tx1"/>
                        </a:solidFill>
                      </a:endParaRPr>
                    </a:p>
                    <a:p>
                      <a:endParaRPr lang="en-SG"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2" name="Slide Number Placeholder 1"/>
          <p:cNvSpPr>
            <a:spLocks noGrp="1"/>
          </p:cNvSpPr>
          <p:nvPr>
            <p:ph type="sldNum" sz="quarter" idx="4"/>
          </p:nvPr>
        </p:nvSpPr>
        <p:spPr/>
        <p:txBody>
          <a:bodyPr/>
          <a:lstStyle/>
          <a:p>
            <a:pPr algn="ctr"/>
            <a:r>
              <a:rPr lang="en-SG"/>
              <a:t>Page </a:t>
            </a:r>
            <a:fld id="{2F63C605-4FC6-46DE-BC90-871762EA3F52}" type="slidenum">
              <a:rPr lang="en-SG" smtClean="0"/>
            </a:fld>
            <a:endParaRPr lang="en-SG" dirty="0"/>
          </a:p>
        </p:txBody>
      </p:sp>
    </p:spTree>
  </p:cSld>
  <p:clrMapOvr>
    <a:masterClrMapping/>
  </p:clrMapOvr>
</p:sld>
</file>

<file path=ppt/tags/tag1.xml><?xml version="1.0" encoding="utf-8"?>
<p:tagLst xmlns:p="http://schemas.openxmlformats.org/presentationml/2006/main">
  <p:tag name="AUTOFOOTER" val="No"/>
</p:tagLst>
</file>

<file path=ppt/theme/theme1.xml><?xml version="1.0" encoding="utf-8"?>
<a:theme xmlns:a="http://schemas.openxmlformats.org/drawingml/2006/main" name="1_Theme1">
  <a:themeElements>
    <a:clrScheme name="Office">
      <a:dk1>
        <a:sysClr val="windowText" lastClr="000000"/>
      </a:dk1>
      <a:lt1>
        <a:sysClr val="window" lastClr="FFFFFF"/>
      </a:lt1>
      <a:dk2>
        <a:srgbClr val="44546A"/>
      </a:dk2>
      <a:lt2>
        <a:srgbClr val="E7E6E6"/>
      </a:lt2>
      <a:accent1>
        <a:srgbClr val="173F7E"/>
      </a:accent1>
      <a:accent2>
        <a:srgbClr val="F58220"/>
      </a:accent2>
      <a:accent3>
        <a:srgbClr val="404040"/>
      </a:accent3>
      <a:accent4>
        <a:srgbClr val="33BBBC"/>
      </a:accent4>
      <a:accent5>
        <a:srgbClr val="7F7F7F"/>
      </a:accent5>
      <a:accent6>
        <a:srgbClr val="FFFFFF"/>
      </a:accent6>
      <a:hlink>
        <a:srgbClr val="173F7E"/>
      </a:hlink>
      <a:folHlink>
        <a:srgbClr val="7F7F7F"/>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noAutofit/>
      </a:bodyPr>
      <a:lstStyle>
        <a:defPPr algn="l">
          <a:defRPr lang="en-US" altLang="zh-CN" dirty="0" err="1" smtClean="0">
            <a:solidFill>
              <a:schemeClr val="tx1"/>
            </a:solidFill>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4963</Words>
  <Application>WPS 演示</Application>
  <PresentationFormat>On-screen Show (4:3)</PresentationFormat>
  <Paragraphs>106</Paragraphs>
  <Slides>8</Slides>
  <Notes>1</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8</vt:i4>
      </vt:variant>
    </vt:vector>
  </HeadingPairs>
  <TitlesOfParts>
    <vt:vector size="16" baseType="lpstr">
      <vt:lpstr>Arial</vt:lpstr>
      <vt:lpstr>宋体</vt:lpstr>
      <vt:lpstr>Wingdings</vt:lpstr>
      <vt:lpstr>Calibri</vt:lpstr>
      <vt:lpstr>黑体</vt:lpstr>
      <vt:lpstr>微软雅黑</vt:lpstr>
      <vt:lpstr>Arial Unicode MS</vt:lpstr>
      <vt:lpstr>1_Theme1</vt:lpstr>
      <vt:lpstr>AIC Day1 worksheet</vt:lpstr>
      <vt:lpstr>Team members</vt:lpstr>
      <vt:lpstr>Case study: Prompt classification</vt:lpstr>
      <vt:lpstr>Q1: Analyze one traditional AI system in your case study</vt:lpstr>
      <vt:lpstr>Q2. Identify a potential threat to the traditional AI system in your case study</vt:lpstr>
      <vt:lpstr>Q3: Recommend risk mitigation strategy to the traditional AI system in your case study</vt:lpstr>
      <vt:lpstr>Q3: Recommend risk mitigation strategy to the traditional AI system in your case study</vt:lpstr>
      <vt:lpstr>AI Tool Declaration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Xingkang</dc:creator>
  <cp:lastModifiedBy>WPS_1639368658</cp:lastModifiedBy>
  <cp:revision>1102</cp:revision>
  <cp:lastPrinted>2017-10-05T01:59:00Z</cp:lastPrinted>
  <dcterms:created xsi:type="dcterms:W3CDTF">2014-12-11T07:55:00Z</dcterms:created>
  <dcterms:modified xsi:type="dcterms:W3CDTF">2026-03-02T08:24:57Z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2052-12.1.0.25225</vt:lpwstr>
  </property>
  <property fmtid="{D5CDD505-2E9C-101B-9397-08002B2CF9AE}" pid="3" name="ICV">
    <vt:lpwstr>46FCB452905F43BE89E99558D5C3A12D_12</vt:lpwstr>
  </property>
</Properties>
</file>