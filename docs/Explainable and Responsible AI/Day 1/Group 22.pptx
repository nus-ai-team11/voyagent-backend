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12EF11-CB4B-43C1-A8C7-DF461300F01E}">
  <a:tblStyle styleId="{3112EF11-CB4B-43C1-A8C7-DF461300F0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a49072e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a49072e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a49072ee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a49072ee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a49072ee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a49072ee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49072ee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a49072ee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a49072ee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a49072ee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a49072e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a49072e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a49072ee0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a49072ee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a49072ee0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a49072ee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a49072ee0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a49072ee0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a49072ee0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a49072ee0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a49072ee0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a49072ee0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49072ee0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a49072ee0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a49072ee0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a49072ee0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Day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Group 22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2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Members: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Xiong Kun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Sun Sihan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Yan Tianli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Background</a:t>
            </a:r>
            <a:endParaRPr b="1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82250"/>
            <a:ext cx="8520600" cy="30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b="1" lang="zh-CN" sz="4300">
                <a:solidFill>
                  <a:schemeClr val="dk1"/>
                </a:solidFill>
              </a:rPr>
              <a:t>Organisation: DBS Bank</a:t>
            </a:r>
            <a:endParaRPr b="1"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b="1" lang="zh-CN" sz="4300">
                <a:solidFill>
                  <a:schemeClr val="dk1"/>
                </a:solidFill>
              </a:rPr>
              <a:t>AI Product Scenario: AI-powered loan approval &amp; credit risk assessment system</a:t>
            </a:r>
            <a:endParaRPr b="1"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b="1" lang="zh-CN" sz="4300">
                <a:solidFill>
                  <a:schemeClr val="dk1"/>
                </a:solidFill>
              </a:rPr>
              <a:t>Problem Statement: </a:t>
            </a:r>
            <a:r>
              <a:rPr lang="zh-CN" sz="4300">
                <a:solidFill>
                  <a:schemeClr val="dk1"/>
                </a:solidFill>
              </a:rPr>
              <a:t>DBS receives a high volume of personal loan and SME loan applications. Manual review is slow, costly, and inconsistent. The bank wants to deploy an AI system to:</a:t>
            </a:r>
            <a:endParaRPr sz="4300">
              <a:solidFill>
                <a:schemeClr val="dk1"/>
              </a:solidFill>
            </a:endParaRPr>
          </a:p>
          <a:p>
            <a:pPr indent="-31734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300">
                <a:solidFill>
                  <a:schemeClr val="dk1"/>
                </a:solidFill>
              </a:rPr>
              <a:t>Automatically assess credit risk</a:t>
            </a:r>
            <a:endParaRPr sz="4300">
              <a:solidFill>
                <a:schemeClr val="dk1"/>
              </a:solidFill>
            </a:endParaRPr>
          </a:p>
          <a:p>
            <a:pPr indent="-31734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300">
                <a:solidFill>
                  <a:schemeClr val="dk1"/>
                </a:solidFill>
              </a:rPr>
              <a:t>Approve / reject / flag applications</a:t>
            </a:r>
            <a:endParaRPr sz="4300">
              <a:solidFill>
                <a:schemeClr val="dk1"/>
              </a:solidFill>
            </a:endParaRPr>
          </a:p>
          <a:p>
            <a:pPr indent="-31734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300">
                <a:solidFill>
                  <a:schemeClr val="dk1"/>
                </a:solidFill>
              </a:rPr>
              <a:t>Detect fraud patterns</a:t>
            </a:r>
            <a:endParaRPr sz="4300">
              <a:solidFill>
                <a:schemeClr val="dk1"/>
              </a:solidFill>
            </a:endParaRPr>
          </a:p>
          <a:p>
            <a:pPr indent="-31734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300">
                <a:solidFill>
                  <a:schemeClr val="dk1"/>
                </a:solidFill>
              </a:rPr>
              <a:t>Reduce processing time</a:t>
            </a:r>
            <a:endParaRPr sz="4300">
              <a:solidFill>
                <a:schemeClr val="dk1"/>
              </a:solidFill>
            </a:endParaRPr>
          </a:p>
          <a:p>
            <a:pPr indent="-31734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300">
                <a:solidFill>
                  <a:schemeClr val="dk1"/>
                </a:solidFill>
              </a:rPr>
              <a:t>Improve risk prediction accuracy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524000"/>
            <a:ext cx="8520600" cy="25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Q1: What are the features and technologies that would be involved in the AI product?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600"/>
              <a:t>A1: Features and technologies involved:</a:t>
            </a:r>
            <a:endParaRPr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ML credit-risk model</a:t>
            </a:r>
            <a:r>
              <a:rPr lang="zh-CN" sz="1400"/>
              <a:t> to predict probability of default based on historical loan and repayment data.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Fraud detection system</a:t>
            </a:r>
            <a:r>
              <a:rPr lang="zh-CN" sz="1400"/>
              <a:t> using anomaly detection to flag suspicious patterns.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Data integration pipeline</a:t>
            </a:r>
            <a:r>
              <a:rPr lang="zh-CN" sz="1400"/>
              <a:t> combining internal transaction data and external credit bureau data.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Explainable AI tools</a:t>
            </a:r>
            <a:r>
              <a:rPr lang="zh-CN" sz="1400"/>
              <a:t> (e.g., feature importance) to justify approval or rejection decisions.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Secure cloud infrastructure</a:t>
            </a:r>
            <a:r>
              <a:rPr lang="zh-CN" sz="1400"/>
              <a:t> to ensure scalability, cybersecurity, and system reliability.</a:t>
            </a:r>
            <a:endParaRPr sz="14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524000"/>
            <a:ext cx="8520600" cy="25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Q2: </a:t>
            </a:r>
            <a:r>
              <a:rPr b="1" lang="zh-CN" sz="1600">
                <a:solidFill>
                  <a:schemeClr val="dk1"/>
                </a:solidFill>
              </a:rPr>
              <a:t>AI Adoption consideration analysis？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600"/>
              <a:t>A2: </a:t>
            </a:r>
            <a:r>
              <a:rPr b="1" lang="zh-CN" sz="1600"/>
              <a:t>AI adoption considerations:</a:t>
            </a:r>
            <a:endParaRPr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Data privacy &amp; regulatory compliance</a:t>
            </a:r>
            <a:r>
              <a:rPr lang="zh-CN" sz="1400"/>
              <a:t> (e.g., PDPA, financial regulations).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Bias and fairness risks</a:t>
            </a:r>
            <a:r>
              <a:rPr lang="zh-CN" sz="1400"/>
              <a:t>, especially across income, age, or demographic groups.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Transparency</a:t>
            </a:r>
            <a:r>
              <a:rPr lang="zh-CN" sz="1400"/>
              <a:t>, as customers may demand explanation for rejections.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Model accuracy and reliability</a:t>
            </a:r>
            <a:r>
              <a:rPr lang="zh-CN" sz="1400"/>
              <a:t>, since financial impact is high.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Trust and reputation</a:t>
            </a:r>
            <a:r>
              <a:rPr lang="zh-CN" sz="1400"/>
              <a:t>, as unfair AI decisions can damage the bank’s credibility.</a:t>
            </a:r>
            <a:endParaRPr sz="1400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524000"/>
            <a:ext cx="8520600" cy="25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Q3: </a:t>
            </a:r>
            <a:r>
              <a:rPr b="1" lang="zh-CN" sz="1600">
                <a:solidFill>
                  <a:schemeClr val="dk1"/>
                </a:solidFill>
              </a:rPr>
              <a:t>Who are the stakeholders and their responsibilities in this project?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600"/>
              <a:t>A3: </a:t>
            </a:r>
            <a:r>
              <a:rPr b="1" lang="zh-CN" sz="1600"/>
              <a:t>Stakeholders and responsibilities:</a:t>
            </a:r>
            <a:endParaRPr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Customers</a:t>
            </a:r>
            <a:r>
              <a:rPr lang="zh-CN" sz="1400"/>
              <a:t>: submit truthful information and receive loan decisions.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Bank management</a:t>
            </a:r>
            <a:r>
              <a:rPr lang="zh-CN" sz="1400"/>
              <a:t>: set AI strategy and oversee risk governance</a:t>
            </a:r>
            <a:r>
              <a:rPr lang="zh-CN" sz="1400"/>
              <a:t>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Data scientists &amp; engineers</a:t>
            </a:r>
            <a:r>
              <a:rPr lang="zh-CN" sz="1400"/>
              <a:t>: design, test, and monitor the model.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Compliance/legal team</a:t>
            </a:r>
            <a:r>
              <a:rPr lang="zh-CN" sz="1400"/>
              <a:t>: ensure adherence to financial laws and audit requirements.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CN" sz="1400"/>
              <a:t>Regulators</a:t>
            </a:r>
            <a:r>
              <a:rPr lang="zh-CN" sz="1400"/>
              <a:t>: supervise industry standards and fairness compliance.</a:t>
            </a:r>
            <a:endParaRPr sz="14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524000"/>
            <a:ext cx="8520600" cy="25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Q4: </a:t>
            </a:r>
            <a:r>
              <a:rPr b="1" lang="zh-CN" sz="1600">
                <a:solidFill>
                  <a:schemeClr val="dk1"/>
                </a:solidFill>
              </a:rPr>
              <a:t>What have to be done to convince the various stakeholders on the adoption of the AI？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600"/>
              <a:t>A4: </a:t>
            </a:r>
            <a:r>
              <a:rPr b="1" lang="zh-CN" sz="1600"/>
              <a:t>Convincing stakeholders to adopt AI</a:t>
            </a:r>
            <a:r>
              <a:rPr b="1" lang="zh-CN" sz="1600"/>
              <a:t>:</a:t>
            </a:r>
            <a:endParaRPr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Demonstrate </a:t>
            </a:r>
            <a:r>
              <a:rPr b="1" lang="zh-CN" sz="1400"/>
              <a:t>shorter processing time</a:t>
            </a:r>
            <a:r>
              <a:rPr lang="zh-CN" sz="1400"/>
              <a:t> and improved operational efficiency.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Show evidence of </a:t>
            </a:r>
            <a:r>
              <a:rPr b="1" lang="zh-CN" sz="1400"/>
              <a:t>better risk prediction accuracy</a:t>
            </a:r>
            <a:r>
              <a:rPr lang="zh-CN" sz="1400"/>
              <a:t> compared to manual review.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Provide </a:t>
            </a:r>
            <a:r>
              <a:rPr b="1" lang="zh-CN" sz="1400"/>
              <a:t>clear audit trails and explainability tools</a:t>
            </a:r>
            <a:r>
              <a:rPr lang="zh-CN" sz="1400"/>
              <a:t> to address fairness concerns.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Conduct </a:t>
            </a:r>
            <a:r>
              <a:rPr b="1" lang="zh-CN" sz="1400"/>
              <a:t>pilot testing</a:t>
            </a:r>
            <a:r>
              <a:rPr lang="zh-CN" sz="1400"/>
              <a:t> to validate performance before full rollout.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Highlight alignment with long-term digital transformation strategy.</a:t>
            </a:r>
            <a:endParaRPr sz="1400"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zh-CN" sz="2300"/>
              <a:t>Q5: Potential Complaints &amp; Harm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1.</a:t>
            </a:r>
            <a:r>
              <a:rPr b="1" lang="zh-CN" sz="1700">
                <a:solidFill>
                  <a:schemeClr val="dk1"/>
                </a:solidFill>
              </a:rPr>
              <a:t>Discriminatory Rejection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zh-CN" sz="1700">
                <a:solidFill>
                  <a:schemeClr val="dk1"/>
                </a:solidFill>
              </a:rPr>
              <a:t>Certain groups (e.g., gig workers, young applicants, foreign professionals) are rejected at higher rates.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zh-CN" sz="1700">
                <a:solidFill>
                  <a:schemeClr val="dk1"/>
                </a:solidFill>
              </a:rPr>
              <a:t>Harm:</a:t>
            </a:r>
            <a:endParaRPr b="1" sz="1700">
              <a:solidFill>
                <a:schemeClr val="dk1"/>
              </a:solidFill>
            </a:endParaRPr>
          </a:p>
          <a:p>
            <a:pPr indent="-32845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1700">
                <a:solidFill>
                  <a:schemeClr val="dk1"/>
                </a:solidFill>
              </a:rPr>
              <a:t>Financial exclusion</a:t>
            </a:r>
            <a:endParaRPr sz="1700">
              <a:solidFill>
                <a:schemeClr val="dk1"/>
              </a:solidFill>
            </a:endParaRPr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1700">
                <a:solidFill>
                  <a:schemeClr val="dk1"/>
                </a:solidFill>
              </a:rPr>
              <a:t>Perceived discrimination</a:t>
            </a:r>
            <a:endParaRPr sz="1700">
              <a:solidFill>
                <a:schemeClr val="dk1"/>
              </a:solidFill>
            </a:endParaRPr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1700">
                <a:solidFill>
                  <a:schemeClr val="dk1"/>
                </a:solidFill>
              </a:rPr>
              <a:t>Regulatory investigation</a:t>
            </a:r>
            <a:endParaRPr sz="1700">
              <a:solidFill>
                <a:schemeClr val="dk1"/>
              </a:solidFill>
            </a:endParaRPr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1700">
                <a:solidFill>
                  <a:schemeClr val="dk1"/>
                </a:solidFill>
              </a:rPr>
              <a:t>Reputational damage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zh-CN" sz="2300"/>
              <a:t>Q5: </a:t>
            </a:r>
            <a:r>
              <a:rPr b="1" lang="zh-CN" sz="2300"/>
              <a:t>Potential Complaints &amp; Harm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2</a:t>
            </a:r>
            <a:r>
              <a:rPr b="1" lang="zh-CN"/>
              <a:t>.</a:t>
            </a:r>
            <a:r>
              <a:rPr b="1" lang="zh-CN" sz="1700">
                <a:solidFill>
                  <a:schemeClr val="dk1"/>
                </a:solidFill>
              </a:rPr>
              <a:t>False Rejection of Creditworthy Customers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</a:rPr>
              <a:t>Good applicants are wrongly rejected.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700">
                <a:solidFill>
                  <a:schemeClr val="dk1"/>
                </a:solidFill>
              </a:rPr>
              <a:t>Harm: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Customer dissatisfaction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Loss of profitable clients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Negative publicity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zh-CN" sz="2300"/>
              <a:t>Q5: </a:t>
            </a:r>
            <a:r>
              <a:rPr b="1" lang="zh-CN" sz="2300"/>
              <a:t>Potential Complaints &amp; Harm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3</a:t>
            </a:r>
            <a:r>
              <a:rPr b="1" lang="zh-CN"/>
              <a:t>.</a:t>
            </a:r>
            <a:r>
              <a:rPr b="1" lang="zh-CN" sz="1700">
                <a:solidFill>
                  <a:schemeClr val="dk1"/>
                </a:solidFill>
              </a:rPr>
              <a:t>Increased Default Rate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</a:rPr>
              <a:t>Model approves risky customers despite high accuracy metrics.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700">
                <a:solidFill>
                  <a:schemeClr val="dk1"/>
                </a:solidFill>
              </a:rPr>
              <a:t>Harm: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Financial loss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Poor risk management decisions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Board-level concerns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zh-CN" sz="2300"/>
              <a:t>Q5: </a:t>
            </a:r>
            <a:r>
              <a:rPr b="1" lang="zh-CN" sz="2300"/>
              <a:t>Potential Complaints &amp; Harm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4</a:t>
            </a:r>
            <a:r>
              <a:rPr b="1" lang="zh-CN"/>
              <a:t>.</a:t>
            </a:r>
            <a:r>
              <a:rPr b="1" lang="zh-CN" sz="1700">
                <a:solidFill>
                  <a:schemeClr val="dk1"/>
                </a:solidFill>
              </a:rPr>
              <a:t>Lack of Transparency (“Black Box”)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</a:rPr>
              <a:t>Customers cannot understand rejection reasons.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700">
                <a:solidFill>
                  <a:schemeClr val="dk1"/>
                </a:solidFill>
              </a:rPr>
              <a:t>Harm: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Loss of trust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Compliance risk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Increased complaints &amp; appeals</a:t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zh-CN" sz="2300"/>
              <a:t>Q5: </a:t>
            </a:r>
            <a:r>
              <a:rPr b="1" lang="zh-CN" sz="2300"/>
              <a:t>Potential Complaints &amp; Harm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5.</a:t>
            </a:r>
            <a:r>
              <a:rPr b="1" lang="zh-CN" sz="1700">
                <a:solidFill>
                  <a:schemeClr val="dk1"/>
                </a:solidFill>
              </a:rPr>
              <a:t>Privacy Concerns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</a:rPr>
              <a:t>Customers question how personal data was used.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700">
                <a:solidFill>
                  <a:schemeClr val="dk1"/>
                </a:solidFill>
              </a:rPr>
              <a:t>Harm: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Legal exposure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Regulatory penalties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CN" sz="1700">
                <a:solidFill>
                  <a:schemeClr val="dk1"/>
                </a:solidFill>
              </a:rPr>
              <a:t>Public backlash</a:t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4063" y="-12"/>
            <a:ext cx="32099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zh-CN" sz="2300"/>
              <a:t>Q6: Who Are the Complaints From?</a:t>
            </a:r>
            <a:endParaRPr/>
          </a:p>
        </p:txBody>
      </p:sp>
      <p:graphicFrame>
        <p:nvGraphicFramePr>
          <p:cNvPr id="139" name="Google Shape;139;p24"/>
          <p:cNvGraphicFramePr/>
          <p:nvPr/>
        </p:nvGraphicFramePr>
        <p:xfrm>
          <a:off x="3429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{3112EF11-CB4B-43C1-A8C7-DF461300F01E}</a:tableStyleId>
              </a:tblPr>
              <a:tblGrid>
                <a:gridCol w="2288050"/>
                <a:gridCol w="3127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zh-CN" sz="1100"/>
                        <a:t>Complaint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zh-CN" sz="1100"/>
                        <a:t>Stakeholder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Discriminatory rejection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Loan applicants / advocacy groups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False rejection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Individual customers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Rising default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Risk management team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Transparency issues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Customers &amp; regulators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Privacy concerns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/>
                        <a:t>Customers &amp; compliance authorities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0" name="Google Shape;140;p24"/>
          <p:cNvGraphicFramePr/>
          <p:nvPr/>
        </p:nvGraphicFramePr>
        <p:xfrm>
          <a:off x="5971458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{3112EF11-CB4B-43C1-A8C7-DF461300F01E}</a:tableStyleId>
              </a:tblPr>
              <a:tblGrid>
                <a:gridCol w="2346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zh-CN" sz="1300">
                          <a:solidFill>
                            <a:schemeClr val="dk1"/>
                          </a:solidFill>
                        </a:rPr>
                        <a:t>Key Stakeholders Affected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Customers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Risk Management Team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Compliance &amp; Legal Team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Senior Management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Regulators (e.g., MAS)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Media &amp; Public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zh-CN" sz="2300"/>
              <a:t>Q7: Why Did the AI Go Wrong? (Lifecycle Analysis)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7" name="Google Shape;147;p25"/>
          <p:cNvGraphicFramePr/>
          <p:nvPr/>
        </p:nvGraphicFramePr>
        <p:xfrm>
          <a:off x="495300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{3112EF11-CB4B-43C1-A8C7-DF461300F01E}</a:tableStyleId>
              </a:tblPr>
              <a:tblGrid>
                <a:gridCol w="2077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zh-CN" sz="1100">
                          <a:solidFill>
                            <a:schemeClr val="dk1"/>
                          </a:solidFill>
                        </a:rPr>
                        <a:t>Stage 1 – Problem Framing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Over-prioritized reducing default rate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No financial inclusion objective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Misaligned KPIs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8" name="Google Shape;148;p25"/>
          <p:cNvGraphicFramePr/>
          <p:nvPr/>
        </p:nvGraphicFramePr>
        <p:xfrm>
          <a:off x="410900" y="309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{3112EF11-CB4B-43C1-A8C7-DF461300F01E}</a:tableStyleId>
              </a:tblPr>
              <a:tblGrid>
                <a:gridCol w="2077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zh-CN" sz="1100">
                          <a:solidFill>
                            <a:schemeClr val="dk1"/>
                          </a:solidFill>
                        </a:rPr>
                        <a:t>Stage 5 – Monitoring Failure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No drift detection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No fairness monitoring dashboard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No periodic model review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9" name="Google Shape;149;p25"/>
          <p:cNvGraphicFramePr/>
          <p:nvPr/>
        </p:nvGraphicFramePr>
        <p:xfrm>
          <a:off x="7048125" y="1085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{3112EF11-CB4B-43C1-A8C7-DF461300F01E}</a:tableStyleId>
              </a:tblPr>
              <a:tblGrid>
                <a:gridCol w="2077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zh-CN" sz="1100">
                          <a:solidFill>
                            <a:schemeClr val="dk1"/>
                          </a:solidFill>
                        </a:rPr>
                        <a:t>Stage 4 – Deployment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Insufficient pilot testing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No stress testing under economic changes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No adversarial fraud testing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0" name="Google Shape;150;p25"/>
          <p:cNvGraphicFramePr/>
          <p:nvPr/>
        </p:nvGraphicFramePr>
        <p:xfrm>
          <a:off x="2706325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{3112EF11-CB4B-43C1-A8C7-DF461300F01E}</a:tableStyleId>
              </a:tblPr>
              <a:tblGrid>
                <a:gridCol w="2077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zh-CN" sz="1100">
                          <a:solidFill>
                            <a:schemeClr val="dk1"/>
                          </a:solidFill>
                        </a:rPr>
                        <a:t>Stage 2 – Data Issues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Historical human bias in past approvals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Underrepresentation of gig workers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Proxy variables (e.g., postal code)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Outdated economic data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1" name="Google Shape;151;p25"/>
          <p:cNvGraphicFramePr/>
          <p:nvPr/>
        </p:nvGraphicFramePr>
        <p:xfrm>
          <a:off x="4894850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{3112EF11-CB4B-43C1-A8C7-DF461300F01E}</a:tableStyleId>
              </a:tblPr>
              <a:tblGrid>
                <a:gridCol w="2077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b="1" lang="zh-CN" sz="1100">
                          <a:solidFill>
                            <a:schemeClr val="dk1"/>
                          </a:solidFill>
                        </a:rPr>
                        <a:t>Stage 3 – Model Development</a:t>
                      </a:r>
                      <a:endParaRPr b="1"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Optimized only for overall accuracy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Ignored false negatives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No subgroup fairness evaluation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</a:rPr>
                        <a:t>Possible overfitting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zh-CN" sz="2300"/>
              <a:t>Q8: Mitigation Plan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83100" y="1152475"/>
            <a:ext cx="40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A. Fixing the Technical Problems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Data Level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Rebalance dataset (stratified sampling)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Remove proxy attributes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Refresh data regularly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275"/>
              <a:buNone/>
            </a:pPr>
            <a:r>
              <a:rPr b="1" lang="zh-CN" sz="1200">
                <a:solidFill>
                  <a:schemeClr val="dk1"/>
                </a:solidFill>
              </a:rPr>
              <a:t>Model Level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Introduce fairness metrics: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CN" sz="1200">
                <a:solidFill>
                  <a:schemeClr val="dk1"/>
                </a:solidFill>
              </a:rPr>
              <a:t>Equal Opportunity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CN" sz="1200">
                <a:solidFill>
                  <a:schemeClr val="dk1"/>
                </a:solidFill>
              </a:rPr>
              <a:t>Equalized Odds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Balance precision &amp; recall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Add explainability tools (e.g., SHAP)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Human review for borderline cases</a:t>
            </a:r>
            <a:endParaRPr sz="1200"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5885375" y="1152475"/>
            <a:ext cx="304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chemeClr val="dk1"/>
                </a:solidFill>
              </a:rPr>
              <a:t>B. Addressing Negative Image &amp; Trust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Clear explanation of AI usage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Transparent rejection reasons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Formal appeal mechanism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Independent audit publication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Establish AI governance committee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75">
              <a:solidFill>
                <a:schemeClr val="dk1"/>
              </a:solidFill>
            </a:endParaRPr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245400" y="1152475"/>
            <a:ext cx="304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chemeClr val="dk1"/>
                </a:solidFill>
              </a:rPr>
              <a:t>Deployment Level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Controlled pilot rollout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Economic stress testing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Continuous monitoring &amp; alerts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1200">
                <a:solidFill>
                  <a:schemeClr val="dk1"/>
                </a:solidFill>
              </a:rPr>
              <a:t>Periodic AI audit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